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" charset="1" panose="020B0004020202020204"/>
      <p:regular r:id="rId21"/>
    </p:embeddedFont>
    <p:embeddedFont>
      <p:font typeface="Calibri (MS)" charset="1" panose="020F050202020403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 and the one-line goal: predict how many cycles an engine has left before it fails.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RUL in plain words. Regression, not classification. Mention cost of early vs late maintenance.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Train engines run to failure so we can compute true RUL for each row. Test engines stop early; RUL_FD001.txt gives RUL at their last cycle. FD002-4 add operating conditions and fault modes; we start with the simplest as the brief recommends.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Paste the lifetime histogram, RUL histogram and sensor-vs-RUL plots from the notebook here or on backup slides. State what each plot shows in one sentence.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each feature: mean removes noise, slope captures speed of drift, health captures distance from the engine's own healthy start. Health is 0 before cycle 10 so early rows never use future data. 57 = 1 cycle + 14 sensors + 14 x 3.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Rows from one engine are highly correlated; a row split puts near-duplicates in train and validation and inflates scores. GroupKFold keeps each engine in one fold. Test set is touched once at the end.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Naive sets the floor. Elastic Net is the linear reference (scaling inside the pipeline to avoid leakage). Random Forest averages bootstrapped trees and handles non-linear interactions. Settings were fixed, not tuned.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FILL FROM NOTEBOOK Section 16 before presenting. Do not present the numbers until they are copied from your own run.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 the predicted-vs-true scatter and the MAE-by-RUL-range bar chart from notebook Section 13. State your actual early and late MAE and explain why they differ in your results.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brief says cap only if stated. We tested a cap at 125 as a secondary comparison and scored both models on uncapped RUL, the project's target. Scoring a capped model on capped truth would favour it by construction.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honest about limits; the viva rewards it. Phase 2 uses the same split so the LSTM is directly comparable.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neon_radial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9" r="0" b="-3888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9686" y="686333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4412" y="686333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2049" y="603980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2049" y="768696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1490" y="638289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12431" y="205902"/>
            <a:ext cx="10295039" cy="8991000"/>
            <a:chOff x="0" y="0"/>
            <a:chExt cx="13726719" cy="1198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26723" cy="11988005"/>
            </a:xfrm>
            <a:custGeom>
              <a:avLst/>
              <a:gdLst/>
              <a:ahLst/>
              <a:cxnLst/>
              <a:rect r="r" b="b" t="t" l="l"/>
              <a:pathLst>
                <a:path h="11988005" w="13726723">
                  <a:moveTo>
                    <a:pt x="0" y="0"/>
                  </a:moveTo>
                  <a:lnTo>
                    <a:pt x="13726723" y="0"/>
                  </a:lnTo>
                  <a:lnTo>
                    <a:pt x="13726723" y="11988005"/>
                  </a:lnTo>
                  <a:lnTo>
                    <a:pt x="0" y="11988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051" t="0" r="-6205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726719" cy="11988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9538"/>
                </a:lnSpc>
              </a:pPr>
              <a:r>
                <a:rPr lang="en-US" sz="41282">
                  <a:solidFill>
                    <a:srgbClr val="3444C7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50010" y="0"/>
            <a:ext cx="7247706" cy="10295039"/>
            <a:chOff x="0" y="0"/>
            <a:chExt cx="9663608" cy="13726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6355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63557">
                  <a:moveTo>
                    <a:pt x="0" y="0"/>
                  </a:moveTo>
                  <a:lnTo>
                    <a:pt x="9663557" y="0"/>
                  </a:lnTo>
                  <a:lnTo>
                    <a:pt x="966355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8102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43794" y="137265"/>
            <a:ext cx="10363676" cy="9334172"/>
            <a:chOff x="0" y="0"/>
            <a:chExt cx="13818235" cy="124455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18236" cy="12445557"/>
            </a:xfrm>
            <a:custGeom>
              <a:avLst/>
              <a:gdLst/>
              <a:ahLst/>
              <a:cxnLst/>
              <a:rect r="r" b="b" t="t" l="l"/>
              <a:pathLst>
                <a:path h="12445557" w="13818236">
                  <a:moveTo>
                    <a:pt x="0" y="0"/>
                  </a:moveTo>
                  <a:lnTo>
                    <a:pt x="13818236" y="0"/>
                  </a:lnTo>
                  <a:lnTo>
                    <a:pt x="13818236" y="12445557"/>
                  </a:lnTo>
                  <a:lnTo>
                    <a:pt x="0" y="12445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5558" t="0" r="-6555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3818235" cy="12445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637"/>
                </a:lnSpc>
              </a:pPr>
              <a:r>
                <a:rPr lang="en-US" sz="40531">
                  <a:solidFill>
                    <a:srgbClr val="3744C5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8324" y="5696588"/>
            <a:ext cx="6726098" cy="274539"/>
            <a:chOff x="0" y="0"/>
            <a:chExt cx="8968130" cy="3660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68126" cy="366046"/>
            </a:xfrm>
            <a:custGeom>
              <a:avLst/>
              <a:gdLst/>
              <a:ahLst/>
              <a:cxnLst/>
              <a:rect r="r" b="b" t="t" l="l"/>
              <a:pathLst>
                <a:path h="366046" w="8968126">
                  <a:moveTo>
                    <a:pt x="0" y="0"/>
                  </a:moveTo>
                  <a:lnTo>
                    <a:pt x="8968126" y="0"/>
                  </a:lnTo>
                  <a:lnTo>
                    <a:pt x="8968126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382" r="0" b="-4273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968130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PREDICTIVE MAINTENANCE  /  PHASE 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8324" y="6135843"/>
            <a:ext cx="10844108" cy="1441304"/>
            <a:chOff x="0" y="0"/>
            <a:chExt cx="14458810" cy="19217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58817" cy="1921741"/>
            </a:xfrm>
            <a:custGeom>
              <a:avLst/>
              <a:gdLst/>
              <a:ahLst/>
              <a:cxnLst/>
              <a:rect r="r" b="b" t="t" l="l"/>
              <a:pathLst>
                <a:path h="1921741" w="14458817">
                  <a:moveTo>
                    <a:pt x="0" y="0"/>
                  </a:moveTo>
                  <a:lnTo>
                    <a:pt x="14458817" y="0"/>
                  </a:lnTo>
                  <a:lnTo>
                    <a:pt x="14458817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601" r="0" b="-966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4458810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Remaining Useful Life</a:t>
              </a:r>
            </a:p>
            <a:p>
              <a:pPr algn="l">
                <a:lnSpc>
                  <a:spcPts val="5043"/>
                </a:lnSpc>
              </a:pPr>
              <a:r>
                <a:rPr lang="en-US" sz="4203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Prediction for Industrial Engines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5775" y="7769323"/>
            <a:ext cx="9196902" cy="549069"/>
            <a:chOff x="0" y="0"/>
            <a:chExt cx="12262536" cy="732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62540" cy="732092"/>
            </a:xfrm>
            <a:custGeom>
              <a:avLst/>
              <a:gdLst/>
              <a:ahLst/>
              <a:cxnLst/>
              <a:rect r="r" b="b" t="t" l="l"/>
              <a:pathLst>
                <a:path h="732092" w="12262540">
                  <a:moveTo>
                    <a:pt x="0" y="0"/>
                  </a:moveTo>
                  <a:lnTo>
                    <a:pt x="12262540" y="0"/>
                  </a:lnTo>
                  <a:lnTo>
                    <a:pt x="1226254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262536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Machine-learning baseline on engineered degradation features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5775" y="8510568"/>
            <a:ext cx="6314294" cy="343167"/>
            <a:chOff x="0" y="0"/>
            <a:chExt cx="8419059" cy="4575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9057" cy="457557"/>
            </a:xfrm>
            <a:custGeom>
              <a:avLst/>
              <a:gdLst/>
              <a:ahLst/>
              <a:cxnLst/>
              <a:rect r="r" b="b" t="t" l="l"/>
              <a:pathLst>
                <a:path h="457557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41905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5"/>
                </a:lnSpc>
              </a:pPr>
              <a:r>
                <a:rPr lang="en-US" sz="1396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NASA C-MAPSS  /  SUBSET FD001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5775" y="8991000"/>
            <a:ext cx="10295039" cy="329441"/>
            <a:chOff x="0" y="0"/>
            <a:chExt cx="13726719" cy="4392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726723" cy="439255"/>
            </a:xfrm>
            <a:custGeom>
              <a:avLst/>
              <a:gdLst/>
              <a:ahLst/>
              <a:cxnLst/>
              <a:rect r="r" b="b" t="t" l="l"/>
              <a:pathLst>
                <a:path h="439255" w="13726723">
                  <a:moveTo>
                    <a:pt x="0" y="0"/>
                  </a:moveTo>
                  <a:lnTo>
                    <a:pt x="13726723" y="0"/>
                  </a:lnTo>
                  <a:lnTo>
                    <a:pt x="1372672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8906" r="0" b="-5589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3726719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TEAM: Kush Puri, Aadit Vachher, Kushagra Maheshwari, Vachan Gupta, Aabir Sarkar        •  COURSE: CSAI  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000" y="0"/>
            <a:ext cx="9310840" cy="10295039"/>
            <a:chOff x="0" y="0"/>
            <a:chExt cx="12414453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1241450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414504">
                  <a:moveTo>
                    <a:pt x="0" y="0"/>
                  </a:moveTo>
                  <a:lnTo>
                    <a:pt x="12414504" y="0"/>
                  </a:lnTo>
                  <a:lnTo>
                    <a:pt x="1241450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284" t="0" r="-4828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7275166" cy="329441"/>
            <a:chOff x="0" y="0"/>
            <a:chExt cx="9700222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00218" cy="439255"/>
            </a:xfrm>
            <a:custGeom>
              <a:avLst/>
              <a:gdLst/>
              <a:ahLst/>
              <a:cxnLst/>
              <a:rect r="r" b="b" t="t" l="l"/>
              <a:pathLst>
                <a:path h="439255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700222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01 / THE TARGET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7275166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How much life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remains?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7275166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Regression target: operating cycles left before failure.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2235" y="4118019"/>
            <a:ext cx="7206529" cy="754971"/>
            <a:chOff x="0" y="0"/>
            <a:chExt cx="9608706" cy="10066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8707" cy="1006626"/>
            </a:xfrm>
            <a:custGeom>
              <a:avLst/>
              <a:gdLst/>
              <a:ahLst/>
              <a:cxnLst/>
              <a:rect r="r" b="b" t="t" l="l"/>
              <a:pathLst>
                <a:path h="1006626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608706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Sensors drift as components wear. Failure is not always sudden.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2235" y="4914167"/>
            <a:ext cx="7824235" cy="301990"/>
            <a:chOff x="0" y="0"/>
            <a:chExt cx="10432313" cy="4026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32311" cy="402651"/>
            </a:xfrm>
            <a:custGeom>
              <a:avLst/>
              <a:gdLst/>
              <a:ahLst/>
              <a:cxnLst/>
              <a:rect r="r" b="b" t="t" l="l"/>
              <a:pathLst>
                <a:path h="402651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839" r="0" b="-4548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432313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3"/>
                </a:lnSpc>
              </a:pPr>
              <a:r>
                <a:rPr lang="en-US" sz="1336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Phase 1 asks how far engineered features + classical ML can go.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5961" y="5490686"/>
            <a:ext cx="439255" cy="329441"/>
            <a:chOff x="0" y="0"/>
            <a:chExt cx="585673" cy="4392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674" cy="439255"/>
            </a:xfrm>
            <a:custGeom>
              <a:avLst/>
              <a:gdLst/>
              <a:ahLst/>
              <a:cxnLst/>
              <a:rect r="r" b="b" t="t" l="l"/>
              <a:pathLst>
                <a:path h="439255" w="585674">
                  <a:moveTo>
                    <a:pt x="0" y="0"/>
                  </a:moveTo>
                  <a:lnTo>
                    <a:pt x="585674" y="0"/>
                  </a:lnTo>
                  <a:lnTo>
                    <a:pt x="58567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85673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37392" y="5463235"/>
            <a:ext cx="6794725" cy="576520"/>
            <a:chOff x="0" y="0"/>
            <a:chExt cx="9059634" cy="7686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59638" cy="768697"/>
            </a:xfrm>
            <a:custGeom>
              <a:avLst/>
              <a:gdLst/>
              <a:ahLst/>
              <a:cxnLst/>
              <a:rect r="r" b="b" t="t" l="l"/>
              <a:pathLst>
                <a:path h="768697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645" r="0" b="-1796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059634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5"/>
                </a:lnSpc>
              </a:pPr>
              <a:r>
                <a:rPr lang="en-US" sz="154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Predict from sensor history available up to cycle t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5580">
            <a:off x="1532144" y="6089904"/>
            <a:ext cx="6462055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905961" y="6341745"/>
            <a:ext cx="439255" cy="329441"/>
            <a:chOff x="0" y="0"/>
            <a:chExt cx="585673" cy="4392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674" cy="439255"/>
            </a:xfrm>
            <a:custGeom>
              <a:avLst/>
              <a:gdLst/>
              <a:ahLst/>
              <a:cxnLst/>
              <a:rect r="r" b="b" t="t" l="l"/>
              <a:pathLst>
                <a:path h="439255" w="585674">
                  <a:moveTo>
                    <a:pt x="0" y="0"/>
                  </a:moveTo>
                  <a:lnTo>
                    <a:pt x="585674" y="0"/>
                  </a:lnTo>
                  <a:lnTo>
                    <a:pt x="58567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85673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37392" y="6314294"/>
            <a:ext cx="6794725" cy="576520"/>
            <a:chOff x="0" y="0"/>
            <a:chExt cx="9059634" cy="7686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059638" cy="768697"/>
            </a:xfrm>
            <a:custGeom>
              <a:avLst/>
              <a:gdLst/>
              <a:ahLst/>
              <a:cxnLst/>
              <a:rect r="r" b="b" t="t" l="l"/>
              <a:pathLst>
                <a:path h="768697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645" r="0" b="-17964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059634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5"/>
                </a:lnSpc>
              </a:pPr>
              <a:r>
                <a:rPr lang="en-US" sz="154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Schedule maintenance before failure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5580">
            <a:off x="1532144" y="6940963"/>
            <a:ext cx="6462055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905961" y="7192804"/>
            <a:ext cx="439255" cy="329441"/>
            <a:chOff x="0" y="0"/>
            <a:chExt cx="585673" cy="4392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5674" cy="439255"/>
            </a:xfrm>
            <a:custGeom>
              <a:avLst/>
              <a:gdLst/>
              <a:ahLst/>
              <a:cxnLst/>
              <a:rect r="r" b="b" t="t" l="l"/>
              <a:pathLst>
                <a:path h="439255" w="585674">
                  <a:moveTo>
                    <a:pt x="0" y="0"/>
                  </a:moveTo>
                  <a:lnTo>
                    <a:pt x="585674" y="0"/>
                  </a:lnTo>
                  <a:lnTo>
                    <a:pt x="58567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85673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37392" y="7165353"/>
            <a:ext cx="6794725" cy="576520"/>
            <a:chOff x="0" y="0"/>
            <a:chExt cx="9059634" cy="7686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59638" cy="768697"/>
            </a:xfrm>
            <a:custGeom>
              <a:avLst/>
              <a:gdLst/>
              <a:ahLst/>
              <a:cxnLst/>
              <a:rect r="r" b="b" t="t" l="l"/>
              <a:pathLst>
                <a:path h="768697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645" r="0" b="-17964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9059634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5"/>
                </a:lnSpc>
              </a:pPr>
              <a:r>
                <a:rPr lang="en-US" sz="154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Avoid replacing parts too early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5580">
            <a:off x="1532144" y="7792012"/>
            <a:ext cx="6462055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899293" y="8160725"/>
            <a:ext cx="7123786" cy="905580"/>
            <a:chOff x="0" y="0"/>
            <a:chExt cx="9498381" cy="1207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98330" cy="1207389"/>
            </a:xfrm>
            <a:custGeom>
              <a:avLst/>
              <a:gdLst/>
              <a:ahLst/>
              <a:cxnLst/>
              <a:rect r="r" b="b" t="t" l="l"/>
              <a:pathLst>
                <a:path h="1207389" w="9498330">
                  <a:moveTo>
                    <a:pt x="0" y="0"/>
                  </a:moveTo>
                  <a:lnTo>
                    <a:pt x="9498330" y="0"/>
                  </a:lnTo>
                  <a:lnTo>
                    <a:pt x="9498330" y="1207389"/>
                  </a:lnTo>
                  <a:lnTo>
                    <a:pt x="0" y="1207389"/>
                  </a:lnTo>
                  <a:close/>
                </a:path>
              </a:pathLst>
            </a:custGeom>
            <a:solidFill>
              <a:srgbClr val="0B1722"/>
            </a:solidFill>
            <a:ln w="13345" cap="sq">
              <a:solidFill>
                <a:srgbClr val="25344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35402" y="8345853"/>
            <a:ext cx="6520196" cy="480431"/>
            <a:chOff x="0" y="0"/>
            <a:chExt cx="8693594" cy="6405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93592" cy="640580"/>
            </a:xfrm>
            <a:custGeom>
              <a:avLst/>
              <a:gdLst/>
              <a:ahLst/>
              <a:cxnLst/>
              <a:rect r="r" b="b" t="t" l="l"/>
              <a:pathLst>
                <a:path h="640580" w="8693592">
                  <a:moveTo>
                    <a:pt x="0" y="0"/>
                  </a:moveTo>
                  <a:lnTo>
                    <a:pt x="8693592" y="0"/>
                  </a:lnTo>
                  <a:lnTo>
                    <a:pt x="8693592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40" r="0" b="-21443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69359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= last cycle − current cycle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77343" y="851059"/>
            <a:ext cx="5902490" cy="274539"/>
            <a:chOff x="0" y="0"/>
            <a:chExt cx="7869987" cy="3660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69989" cy="366046"/>
            </a:xfrm>
            <a:custGeom>
              <a:avLst/>
              <a:gdLst/>
              <a:ahLst/>
              <a:cxnLst/>
              <a:rect r="r" b="b" t="t" l="l"/>
              <a:pathLst>
                <a:path h="366046" w="7869989">
                  <a:moveTo>
                    <a:pt x="0" y="0"/>
                  </a:moveTo>
                  <a:lnTo>
                    <a:pt x="7869989" y="0"/>
                  </a:lnTo>
                  <a:lnTo>
                    <a:pt x="7869989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8927" r="0" b="-36892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786998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CONCEPTUAL ENGINE LIFETIME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77343" y="1290314"/>
            <a:ext cx="6588824" cy="439255"/>
            <a:chOff x="0" y="0"/>
            <a:chExt cx="8785098" cy="5856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85103" cy="585674"/>
            </a:xfrm>
            <a:custGeom>
              <a:avLst/>
              <a:gdLst/>
              <a:ahLst/>
              <a:cxnLst/>
              <a:rect r="r" b="b" t="t" l="l"/>
              <a:pathLst>
                <a:path h="585674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785098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Sensor history → remaining life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4800">
            <a:off x="9946624" y="2740581"/>
            <a:ext cx="7519006" cy="0"/>
          </a:xfrm>
          <a:prstGeom prst="line">
            <a:avLst/>
          </a:prstGeom>
          <a:ln cap="rnd" w="9525">
            <a:solidFill>
              <a:srgbClr val="344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rot="4800">
            <a:off x="9946624" y="3728904"/>
            <a:ext cx="7519006" cy="0"/>
          </a:xfrm>
          <a:prstGeom prst="line">
            <a:avLst/>
          </a:prstGeom>
          <a:ln cap="rnd" w="9525">
            <a:solidFill>
              <a:srgbClr val="344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rot="4800">
            <a:off x="9946624" y="4717228"/>
            <a:ext cx="7519006" cy="0"/>
          </a:xfrm>
          <a:prstGeom prst="line">
            <a:avLst/>
          </a:prstGeom>
          <a:ln cap="rnd" w="9525">
            <a:solidFill>
              <a:srgbClr val="344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rot="4800">
            <a:off x="9946624" y="5705551"/>
            <a:ext cx="7519006" cy="0"/>
          </a:xfrm>
          <a:prstGeom prst="line">
            <a:avLst/>
          </a:prstGeom>
          <a:ln cap="rnd" w="9525">
            <a:solidFill>
              <a:srgbClr val="344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rot="4800">
            <a:off x="9946624" y="6693875"/>
            <a:ext cx="7519006" cy="0"/>
          </a:xfrm>
          <a:prstGeom prst="line">
            <a:avLst/>
          </a:prstGeom>
          <a:ln cap="rnd" w="9525">
            <a:solidFill>
              <a:srgbClr val="344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rot="5394060">
            <a:off x="7476773" y="5211394"/>
            <a:ext cx="4950209" cy="0"/>
          </a:xfrm>
          <a:prstGeom prst="line">
            <a:avLst/>
          </a:prstGeom>
          <a:ln cap="rnd" w="9525">
            <a:solidFill>
              <a:srgbClr val="2C39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5394060">
            <a:off x="8972988" y="5211394"/>
            <a:ext cx="4950209" cy="0"/>
          </a:xfrm>
          <a:prstGeom prst="line">
            <a:avLst/>
          </a:prstGeom>
          <a:ln cap="rnd" w="9525">
            <a:solidFill>
              <a:srgbClr val="2C39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rot="5394060">
            <a:off x="10469194" y="5211394"/>
            <a:ext cx="4950209" cy="0"/>
          </a:xfrm>
          <a:prstGeom prst="line">
            <a:avLst/>
          </a:prstGeom>
          <a:ln cap="rnd" w="9525">
            <a:solidFill>
              <a:srgbClr val="2C39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5394060">
            <a:off x="11965410" y="5211394"/>
            <a:ext cx="4950209" cy="0"/>
          </a:xfrm>
          <a:prstGeom prst="line">
            <a:avLst/>
          </a:prstGeom>
          <a:ln cap="rnd" w="9525">
            <a:solidFill>
              <a:srgbClr val="2C39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5394060">
            <a:off x="13461625" y="5211394"/>
            <a:ext cx="4950209" cy="0"/>
          </a:xfrm>
          <a:prstGeom prst="line">
            <a:avLst/>
          </a:prstGeom>
          <a:ln cap="rnd" w="9525">
            <a:solidFill>
              <a:srgbClr val="2C39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rot="5394060">
            <a:off x="14957831" y="5211394"/>
            <a:ext cx="4950209" cy="0"/>
          </a:xfrm>
          <a:prstGeom prst="line">
            <a:avLst/>
          </a:prstGeom>
          <a:ln cap="rnd" w="9525">
            <a:solidFill>
              <a:srgbClr val="2C39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rot="6960">
            <a:off x="9944243" y="7682198"/>
            <a:ext cx="7523788" cy="0"/>
          </a:xfrm>
          <a:prstGeom prst="line">
            <a:avLst/>
          </a:prstGeom>
          <a:ln cap="rnd" w="9525">
            <a:solidFill>
              <a:srgbClr val="CDD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5389440">
            <a:off x="7473429" y="5211394"/>
            <a:ext cx="4956896" cy="0"/>
          </a:xfrm>
          <a:prstGeom prst="line">
            <a:avLst/>
          </a:prstGeom>
          <a:ln cap="rnd" w="9525">
            <a:solidFill>
              <a:srgbClr val="CDD5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5401382" y="7851686"/>
            <a:ext cx="2059010" cy="274539"/>
            <a:chOff x="0" y="0"/>
            <a:chExt cx="2745346" cy="3660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745345" cy="366046"/>
            </a:xfrm>
            <a:custGeom>
              <a:avLst/>
              <a:gdLst/>
              <a:ahLst/>
              <a:cxnLst/>
              <a:rect r="r" b="b" t="t" l="l"/>
              <a:pathLst>
                <a:path h="366046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2745346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OPERATING CYCLE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896970" y="2470814"/>
            <a:ext cx="1235402" cy="247079"/>
            <a:chOff x="0" y="0"/>
            <a:chExt cx="1647203" cy="32943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47207" cy="329441"/>
            </a:xfrm>
            <a:custGeom>
              <a:avLst/>
              <a:gdLst/>
              <a:ahLst/>
              <a:cxnLst/>
              <a:rect r="r" b="b" t="t" l="l"/>
              <a:pathLst>
                <a:path h="32944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64720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RUL</a:t>
              </a:r>
            </a:p>
          </p:txBody>
        </p:sp>
      </p:grpSp>
      <p:sp>
        <p:nvSpPr>
          <p:cNvPr name="AutoShape 77" id="77"/>
          <p:cNvSpPr/>
          <p:nvPr/>
        </p:nvSpPr>
        <p:spPr>
          <a:xfrm rot="1604880">
            <a:off x="10097443" y="3355619"/>
            <a:ext cx="1177633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1927320">
            <a:off x="11062487" y="3918423"/>
            <a:ext cx="1306535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1771260">
            <a:off x="12129735" y="4556712"/>
            <a:ext cx="1382039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2281740">
            <a:off x="13219681" y="5291090"/>
            <a:ext cx="1439618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2145540">
            <a:off x="14331563" y="6073511"/>
            <a:ext cx="1329757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2129220">
            <a:off x="15355500" y="6821624"/>
            <a:ext cx="1409538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1483680">
            <a:off x="16546020" y="7356967"/>
            <a:ext cx="840419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11111779" y="3534632"/>
            <a:ext cx="150990" cy="150990"/>
            <a:chOff x="0" y="0"/>
            <a:chExt cx="201320" cy="2013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cubicBezTo>
                    <a:pt x="156337" y="0"/>
                    <a:pt x="201422" y="45085"/>
                    <a:pt x="201422" y="100711"/>
                  </a:cubicBezTo>
                  <a:cubicBezTo>
                    <a:pt x="201422" y="156337"/>
                    <a:pt x="156337" y="201422"/>
                    <a:pt x="100711" y="201422"/>
                  </a:cubicBezTo>
                  <a:cubicBezTo>
                    <a:pt x="45085" y="201422"/>
                    <a:pt x="0" y="156210"/>
                    <a:pt x="0" y="100711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321789" y="4811220"/>
            <a:ext cx="150990" cy="150990"/>
            <a:chOff x="0" y="0"/>
            <a:chExt cx="201320" cy="201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cubicBezTo>
                    <a:pt x="156337" y="0"/>
                    <a:pt x="201422" y="45085"/>
                    <a:pt x="201422" y="100711"/>
                  </a:cubicBezTo>
                  <a:cubicBezTo>
                    <a:pt x="201422" y="156337"/>
                    <a:pt x="156337" y="201422"/>
                    <a:pt x="100711" y="201422"/>
                  </a:cubicBezTo>
                  <a:cubicBezTo>
                    <a:pt x="45085" y="201422"/>
                    <a:pt x="0" y="156210"/>
                    <a:pt x="0" y="100711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435701" y="6376064"/>
            <a:ext cx="150990" cy="150990"/>
            <a:chOff x="0" y="0"/>
            <a:chExt cx="201320" cy="2013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cubicBezTo>
                    <a:pt x="156337" y="0"/>
                    <a:pt x="201422" y="45085"/>
                    <a:pt x="201422" y="100711"/>
                  </a:cubicBezTo>
                  <a:cubicBezTo>
                    <a:pt x="201422" y="156337"/>
                    <a:pt x="156337" y="201422"/>
                    <a:pt x="100711" y="201422"/>
                  </a:cubicBezTo>
                  <a:cubicBezTo>
                    <a:pt x="45085" y="201422"/>
                    <a:pt x="0" y="156210"/>
                    <a:pt x="0" y="100711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7247632" y="7446750"/>
            <a:ext cx="150990" cy="150990"/>
            <a:chOff x="0" y="0"/>
            <a:chExt cx="201320" cy="2013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cubicBezTo>
                    <a:pt x="156337" y="0"/>
                    <a:pt x="201422" y="45085"/>
                    <a:pt x="201422" y="100711"/>
                  </a:cubicBezTo>
                  <a:cubicBezTo>
                    <a:pt x="201422" y="156337"/>
                    <a:pt x="156337" y="201422"/>
                    <a:pt x="100711" y="201422"/>
                  </a:cubicBezTo>
                  <a:cubicBezTo>
                    <a:pt x="45085" y="201422"/>
                    <a:pt x="0" y="156210"/>
                    <a:pt x="0" y="100711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AutoShape 92" id="92"/>
          <p:cNvSpPr/>
          <p:nvPr/>
        </p:nvSpPr>
        <p:spPr>
          <a:xfrm rot="5371020">
            <a:off x="11985193" y="6282080"/>
            <a:ext cx="2824182" cy="0"/>
          </a:xfrm>
          <a:prstGeom prst="line">
            <a:avLst/>
          </a:prstGeom>
          <a:ln cap="rnd" w="9525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3" id="93"/>
          <p:cNvGrpSpPr/>
          <p:nvPr/>
        </p:nvGrpSpPr>
        <p:grpSpPr>
          <a:xfrm rot="0">
            <a:off x="12820764" y="7892863"/>
            <a:ext cx="1153049" cy="247079"/>
            <a:chOff x="0" y="0"/>
            <a:chExt cx="1537398" cy="32943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37393" cy="329441"/>
            </a:xfrm>
            <a:custGeom>
              <a:avLst/>
              <a:gdLst/>
              <a:ahLst/>
              <a:cxnLst/>
              <a:rect r="r" b="b" t="t" l="l"/>
              <a:pathLst>
                <a:path h="329441" w="1537393">
                  <a:moveTo>
                    <a:pt x="0" y="0"/>
                  </a:moveTo>
                  <a:lnTo>
                    <a:pt x="1537393" y="0"/>
                  </a:lnTo>
                  <a:lnTo>
                    <a:pt x="153739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931" r="0" b="-4092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537398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cycle 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589460" y="4502363"/>
            <a:ext cx="1372676" cy="274539"/>
            <a:chOff x="0" y="0"/>
            <a:chExt cx="1830235" cy="3660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30230" cy="366046"/>
            </a:xfrm>
            <a:custGeom>
              <a:avLst/>
              <a:gdLst/>
              <a:ahLst/>
              <a:cxnLst/>
              <a:rect r="r" b="b" t="t" l="l"/>
              <a:pathLst>
                <a:path h="366046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" r="0" b="-4742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1830235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at 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951872" y="8675294"/>
            <a:ext cx="7137892" cy="411804"/>
            <a:chOff x="0" y="0"/>
            <a:chExt cx="9517190" cy="5490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517195" cy="549069"/>
            </a:xfrm>
            <a:custGeom>
              <a:avLst/>
              <a:gdLst/>
              <a:ahLst/>
              <a:cxnLst/>
              <a:rect r="r" b="b" t="t" l="l"/>
              <a:pathLst>
                <a:path h="549069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951719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Every training engine ends at RUL = 0</a:t>
              </a:r>
            </a:p>
          </p:txBody>
        </p:sp>
      </p:grpSp>
      <p:sp>
        <p:nvSpPr>
          <p:cNvPr name="AutoShape 102" id="102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3" id="103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36353" y="0"/>
            <a:ext cx="6565487" cy="10295039"/>
            <a:chOff x="0" y="0"/>
            <a:chExt cx="8753983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87539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753983">
                  <a:moveTo>
                    <a:pt x="0" y="0"/>
                  </a:moveTo>
                  <a:lnTo>
                    <a:pt x="8753983" y="0"/>
                  </a:lnTo>
                  <a:lnTo>
                    <a:pt x="8753983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9382" t="0" r="-8938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7961500" cy="329441"/>
            <a:chOff x="0" y="0"/>
            <a:chExt cx="10615333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15333" cy="439255"/>
            </a:xfrm>
            <a:custGeom>
              <a:avLst/>
              <a:gdLst/>
              <a:ahLst/>
              <a:cxnLst/>
              <a:rect r="r" b="b" t="t" l="l"/>
              <a:pathLst>
                <a:path h="439255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615333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02 / DATASET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7961500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NASA C-MAPSS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FD001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7961500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A controlled simulated benchmark for run-to-failure prediction.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5961" y="4323921"/>
            <a:ext cx="2059010" cy="301990"/>
            <a:chOff x="0" y="0"/>
            <a:chExt cx="2745346" cy="4026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5345" cy="402651"/>
            </a:xfrm>
            <a:custGeom>
              <a:avLst/>
              <a:gdLst/>
              <a:ahLst/>
              <a:cxnLst/>
              <a:rect r="r" b="b" t="t" l="l"/>
              <a:pathLst>
                <a:path h="402651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745346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Train rows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992422" y="4227833"/>
            <a:ext cx="2196274" cy="466706"/>
            <a:chOff x="0" y="0"/>
            <a:chExt cx="2928366" cy="6222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28368" cy="622278"/>
            </a:xfrm>
            <a:custGeom>
              <a:avLst/>
              <a:gdLst/>
              <a:ahLst/>
              <a:cxnLst/>
              <a:rect r="r" b="b" t="t" l="l"/>
              <a:pathLst>
                <a:path h="622278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694" r="0" b="-416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928366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20,631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5961" y="4763176"/>
            <a:ext cx="4735716" cy="219627"/>
            <a:chOff x="0" y="0"/>
            <a:chExt cx="6314288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14313" cy="292862"/>
            </a:xfrm>
            <a:custGeom>
              <a:avLst/>
              <a:gdLst/>
              <a:ahLst/>
              <a:cxnLst/>
              <a:rect r="r" b="b" t="t" l="l"/>
              <a:pathLst>
                <a:path h="292862" w="6314313">
                  <a:moveTo>
                    <a:pt x="0" y="0"/>
                  </a:moveTo>
                  <a:lnTo>
                    <a:pt x="6314313" y="0"/>
                  </a:lnTo>
                  <a:lnTo>
                    <a:pt x="6314313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5344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05961" y="4763176"/>
            <a:ext cx="4735716" cy="219627"/>
            <a:chOff x="0" y="0"/>
            <a:chExt cx="6314288" cy="2928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14313" cy="292862"/>
            </a:xfrm>
            <a:custGeom>
              <a:avLst/>
              <a:gdLst/>
              <a:ahLst/>
              <a:cxnLst/>
              <a:rect r="r" b="b" t="t" l="l"/>
              <a:pathLst>
                <a:path h="292862" w="6314313">
                  <a:moveTo>
                    <a:pt x="0" y="0"/>
                  </a:moveTo>
                  <a:lnTo>
                    <a:pt x="6314313" y="0"/>
                  </a:lnTo>
                  <a:lnTo>
                    <a:pt x="6314313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05961" y="5353421"/>
            <a:ext cx="2059010" cy="301990"/>
            <a:chOff x="0" y="0"/>
            <a:chExt cx="2745346" cy="4026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5345" cy="402651"/>
            </a:xfrm>
            <a:custGeom>
              <a:avLst/>
              <a:gdLst/>
              <a:ahLst/>
              <a:cxnLst/>
              <a:rect r="r" b="b" t="t" l="l"/>
              <a:pathLst>
                <a:path h="402651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745346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Test rows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992422" y="5257333"/>
            <a:ext cx="2196274" cy="466706"/>
            <a:chOff x="0" y="0"/>
            <a:chExt cx="2928366" cy="6222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8368" cy="622278"/>
            </a:xfrm>
            <a:custGeom>
              <a:avLst/>
              <a:gdLst/>
              <a:ahLst/>
              <a:cxnLst/>
              <a:rect r="r" b="b" t="t" l="l"/>
              <a:pathLst>
                <a:path h="622278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694" r="0" b="-4169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28366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13,096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5961" y="5792676"/>
            <a:ext cx="4735716" cy="219627"/>
            <a:chOff x="0" y="0"/>
            <a:chExt cx="6314288" cy="2928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14313" cy="292862"/>
            </a:xfrm>
            <a:custGeom>
              <a:avLst/>
              <a:gdLst/>
              <a:ahLst/>
              <a:cxnLst/>
              <a:rect r="r" b="b" t="t" l="l"/>
              <a:pathLst>
                <a:path h="292862" w="6314313">
                  <a:moveTo>
                    <a:pt x="0" y="0"/>
                  </a:moveTo>
                  <a:lnTo>
                    <a:pt x="6314313" y="0"/>
                  </a:lnTo>
                  <a:lnTo>
                    <a:pt x="6314313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25344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05961" y="5792676"/>
            <a:ext cx="3006157" cy="219627"/>
            <a:chOff x="0" y="0"/>
            <a:chExt cx="4008209" cy="2928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08247" cy="292862"/>
            </a:xfrm>
            <a:custGeom>
              <a:avLst/>
              <a:gdLst/>
              <a:ahLst/>
              <a:cxnLst/>
              <a:rect r="r" b="b" t="t" l="l"/>
              <a:pathLst>
                <a:path h="292862" w="4008247">
                  <a:moveTo>
                    <a:pt x="0" y="0"/>
                  </a:moveTo>
                  <a:lnTo>
                    <a:pt x="4008247" y="0"/>
                  </a:lnTo>
                  <a:lnTo>
                    <a:pt x="4008247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05961" y="6369196"/>
            <a:ext cx="6588824" cy="356892"/>
            <a:chOff x="0" y="0"/>
            <a:chExt cx="8785098" cy="475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85103" cy="475860"/>
            </a:xfrm>
            <a:custGeom>
              <a:avLst/>
              <a:gdLst/>
              <a:ahLst/>
              <a:cxnLst/>
              <a:rect r="r" b="b" t="t" l="l"/>
              <a:pathLst>
                <a:path h="47586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785098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One row = one engine at one cycle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6600">
            <a:off x="899284" y="7023316"/>
            <a:ext cx="6931628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905961" y="7343794"/>
            <a:ext cx="6932000" cy="127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Training engines run to failure. Test engines stop early; ground truth is supplied only at each test engine’s last observed cycle.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216784" y="1990373"/>
            <a:ext cx="2676716" cy="686333"/>
            <a:chOff x="0" y="0"/>
            <a:chExt cx="3568954" cy="915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68948" cy="915115"/>
            </a:xfrm>
            <a:custGeom>
              <a:avLst/>
              <a:gdLst/>
              <a:ahLst/>
              <a:cxnLst/>
              <a:rect r="r" b="b" t="t" l="l"/>
              <a:pathLst>
                <a:path h="915115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568954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100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16784" y="2786520"/>
            <a:ext cx="2717892" cy="466706"/>
            <a:chOff x="0" y="0"/>
            <a:chExt cx="3623856" cy="6222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23855" cy="622278"/>
            </a:xfrm>
            <a:custGeom>
              <a:avLst/>
              <a:gdLst/>
              <a:ahLst/>
              <a:cxnLst/>
              <a:rect r="r" b="b" t="t" l="l"/>
              <a:pathLst>
                <a:path h="622278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472" r="0" b="-6347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623856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TRAIN ENGINES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16020">
            <a:off x="12211050" y="3495551"/>
            <a:ext cx="2454821" cy="0"/>
          </a:xfrm>
          <a:prstGeom prst="line">
            <a:avLst/>
          </a:prstGeom>
          <a:ln cap="rnd" w="9525">
            <a:solidFill>
              <a:srgbClr val="5361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5181755" y="1990373"/>
            <a:ext cx="2676716" cy="686333"/>
            <a:chOff x="0" y="0"/>
            <a:chExt cx="3568954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68948" cy="915115"/>
            </a:xfrm>
            <a:custGeom>
              <a:avLst/>
              <a:gdLst/>
              <a:ahLst/>
              <a:cxnLst/>
              <a:rect r="r" b="b" t="t" l="l"/>
              <a:pathLst>
                <a:path h="915115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568954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100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181755" y="2786520"/>
            <a:ext cx="2717892" cy="466706"/>
            <a:chOff x="0" y="0"/>
            <a:chExt cx="3623856" cy="6222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23855" cy="622278"/>
            </a:xfrm>
            <a:custGeom>
              <a:avLst/>
              <a:gdLst/>
              <a:ahLst/>
              <a:cxnLst/>
              <a:rect r="r" b="b" t="t" l="l"/>
              <a:pathLst>
                <a:path h="622278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472" r="0" b="-6347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623856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TEST ENGINES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6020">
            <a:off x="15176021" y="3495551"/>
            <a:ext cx="2454821" cy="0"/>
          </a:xfrm>
          <a:prstGeom prst="line">
            <a:avLst/>
          </a:prstGeom>
          <a:ln cap="rnd" w="9525">
            <a:solidFill>
              <a:srgbClr val="5361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2216784" y="4255284"/>
            <a:ext cx="2676716" cy="686333"/>
            <a:chOff x="0" y="0"/>
            <a:chExt cx="3568954" cy="9151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568948" cy="915115"/>
            </a:xfrm>
            <a:custGeom>
              <a:avLst/>
              <a:gdLst/>
              <a:ahLst/>
              <a:cxnLst/>
              <a:rect r="r" b="b" t="t" l="l"/>
              <a:pathLst>
                <a:path h="915115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568954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21 + 3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16784" y="5051431"/>
            <a:ext cx="2717892" cy="466706"/>
            <a:chOff x="0" y="0"/>
            <a:chExt cx="3623856" cy="6222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23855" cy="622278"/>
            </a:xfrm>
            <a:custGeom>
              <a:avLst/>
              <a:gdLst/>
              <a:ahLst/>
              <a:cxnLst/>
              <a:rect r="r" b="b" t="t" l="l"/>
              <a:pathLst>
                <a:path h="622278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472" r="0" b="-634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623856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SENSORS / CYCLE</a:t>
              </a:r>
            </a:p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+ OP SETTINGS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16020">
            <a:off x="12211050" y="5760463"/>
            <a:ext cx="2454821" cy="0"/>
          </a:xfrm>
          <a:prstGeom prst="line">
            <a:avLst/>
          </a:prstGeom>
          <a:ln cap="rnd" w="9525">
            <a:solidFill>
              <a:srgbClr val="5361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15181755" y="4255284"/>
            <a:ext cx="2676716" cy="686333"/>
            <a:chOff x="0" y="0"/>
            <a:chExt cx="3568954" cy="9151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68948" cy="915115"/>
            </a:xfrm>
            <a:custGeom>
              <a:avLst/>
              <a:gdLst/>
              <a:ahLst/>
              <a:cxnLst/>
              <a:rect r="r" b="b" t="t" l="l"/>
              <a:pathLst>
                <a:path h="915115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568954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3"/>
                </a:lnSpc>
              </a:pPr>
              <a:r>
                <a:rPr lang="en-US" sz="3602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1 / 1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181755" y="5051431"/>
            <a:ext cx="2717892" cy="466706"/>
            <a:chOff x="0" y="0"/>
            <a:chExt cx="3623856" cy="6222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23855" cy="622278"/>
            </a:xfrm>
            <a:custGeom>
              <a:avLst/>
              <a:gdLst/>
              <a:ahLst/>
              <a:cxnLst/>
              <a:rect r="r" b="b" t="t" l="l"/>
              <a:pathLst>
                <a:path h="622278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472" r="0" b="-6347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623856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CONDITION / FAULT MODE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16020">
            <a:off x="15176021" y="5760463"/>
            <a:ext cx="2454821" cy="0"/>
          </a:xfrm>
          <a:prstGeom prst="line">
            <a:avLst/>
          </a:prstGeom>
          <a:ln cap="rnd" w="9525">
            <a:solidFill>
              <a:srgbClr val="5361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2216784" y="7028078"/>
            <a:ext cx="3294412" cy="274539"/>
            <a:chOff x="0" y="0"/>
            <a:chExt cx="4392549" cy="3660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92552" cy="366046"/>
            </a:xfrm>
            <a:custGeom>
              <a:avLst/>
              <a:gdLst/>
              <a:ahLst/>
              <a:cxnLst/>
              <a:rect r="r" b="b" t="t" l="l"/>
              <a:pathLst>
                <a:path h="366046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19" r="0" b="-18382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392549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LIFETIME RANGE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216784" y="7439882"/>
            <a:ext cx="4941618" cy="521618"/>
            <a:chOff x="0" y="0"/>
            <a:chExt cx="6588823" cy="69549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8827" cy="695487"/>
            </a:xfrm>
            <a:custGeom>
              <a:avLst/>
              <a:gdLst/>
              <a:ahLst/>
              <a:cxnLst/>
              <a:rect r="r" b="b" t="t" l="l"/>
              <a:pathLst>
                <a:path h="695487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594" r="0" b="-13459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658882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~130–360 cycles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16784" y="8139951"/>
            <a:ext cx="4941618" cy="631431"/>
            <a:chOff x="0" y="0"/>
            <a:chExt cx="6588823" cy="8419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588827" cy="841906"/>
            </a:xfrm>
            <a:custGeom>
              <a:avLst/>
              <a:gdLst/>
              <a:ahLst/>
              <a:cxnLst/>
              <a:rect r="r" b="b" t="t" l="l"/>
              <a:pathLst>
                <a:path h="841906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491" r="0" b="-10249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6588823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FD001: one operating condition, one fault mode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883245" y="9814608"/>
            <a:ext cx="6382931" cy="205902"/>
            <a:chOff x="0" y="0"/>
            <a:chExt cx="8510575" cy="27453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510569" cy="274534"/>
            </a:xfrm>
            <a:custGeom>
              <a:avLst/>
              <a:gdLst/>
              <a:ahLst/>
              <a:cxnLst/>
              <a:rect r="r" b="b" t="t" l="l"/>
              <a:pathLst>
                <a:path h="274534" w="8510569">
                  <a:moveTo>
                    <a:pt x="0" y="0"/>
                  </a:moveTo>
                  <a:lnTo>
                    <a:pt x="8510569" y="0"/>
                  </a:lnTo>
                  <a:lnTo>
                    <a:pt x="8510569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9525"/>
              <a:ext cx="8510575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7"/>
                </a:lnSpc>
              </a:pPr>
              <a:r>
                <a:rPr lang="en-US" sz="108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Source: NASA PCoE C-MAPSS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9" y="576520"/>
            <a:ext cx="150990" cy="150990"/>
            <a:chOff x="0" y="0"/>
            <a:chExt cx="201320" cy="20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5775" y="57652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3421" y="494167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658882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2853" y="528476"/>
            <a:ext cx="1441304" cy="343167"/>
            <a:chOff x="0" y="0"/>
            <a:chExt cx="1921739" cy="457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8510" y="1139314"/>
            <a:ext cx="7824235" cy="329441"/>
            <a:chOff x="0" y="0"/>
            <a:chExt cx="10432313" cy="439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311" cy="439255"/>
            </a:xfrm>
            <a:custGeom>
              <a:avLst/>
              <a:gdLst/>
              <a:ahLst/>
              <a:cxnLst/>
              <a:rect r="r" b="b" t="t" l="l"/>
              <a:pathLst>
                <a:path h="439255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432313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03 / DATA UNDERSTANDING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78510" y="1619755"/>
            <a:ext cx="7824235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Data quality &amp;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exploratory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8510" y="3102235"/>
            <a:ext cx="7824235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Train-only filtering; visual patterns guide the baseline.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5961" y="3816029"/>
            <a:ext cx="3157147" cy="274539"/>
            <a:chOff x="0" y="0"/>
            <a:chExt cx="4209529" cy="3660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9529" cy="366046"/>
            </a:xfrm>
            <a:custGeom>
              <a:avLst/>
              <a:gdLst/>
              <a:ahLst/>
              <a:cxnLst/>
              <a:rect r="r" b="b" t="t" l="l"/>
              <a:pathLst>
                <a:path h="366046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209529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QUALITY CHECKS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421" y="4323921"/>
            <a:ext cx="480431" cy="315716"/>
            <a:chOff x="0" y="0"/>
            <a:chExt cx="640575" cy="4209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580" cy="420953"/>
            </a:xfrm>
            <a:custGeom>
              <a:avLst/>
              <a:gdLst/>
              <a:ahLst/>
              <a:cxnLst/>
              <a:rect r="r" b="b" t="t" l="l"/>
              <a:pathLst>
                <a:path h="420953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14" t="0" r="-3431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40575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64843" y="4296461"/>
            <a:ext cx="6588824" cy="384348"/>
            <a:chOff x="0" y="0"/>
            <a:chExt cx="8785098" cy="512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85103" cy="512458"/>
            </a:xfrm>
            <a:custGeom>
              <a:avLst/>
              <a:gdLst/>
              <a:ahLst/>
              <a:cxnLst/>
              <a:rect r="r" b="b" t="t" l="l"/>
              <a:pathLst>
                <a:path h="512458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31" r="0" b="-28403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785098" cy="512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sz="1426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Missing values: 0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5520">
            <a:off x="1559595" y="4758414"/>
            <a:ext cx="6516967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33421" y="4914167"/>
            <a:ext cx="480431" cy="315716"/>
            <a:chOff x="0" y="0"/>
            <a:chExt cx="640575" cy="4209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0580" cy="420953"/>
            </a:xfrm>
            <a:custGeom>
              <a:avLst/>
              <a:gdLst/>
              <a:ahLst/>
              <a:cxnLst/>
              <a:rect r="r" b="b" t="t" l="l"/>
              <a:pathLst>
                <a:path h="420953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14" t="0" r="-3431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40575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64843" y="4886716"/>
            <a:ext cx="6588824" cy="384348"/>
            <a:chOff x="0" y="0"/>
            <a:chExt cx="8785098" cy="512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85103" cy="512458"/>
            </a:xfrm>
            <a:custGeom>
              <a:avLst/>
              <a:gdLst/>
              <a:ahLst/>
              <a:cxnLst/>
              <a:rect r="r" b="b" t="t" l="l"/>
              <a:pathLst>
                <a:path h="512458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31" r="0" b="-2840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785098" cy="512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sz="1426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Duplicate rows: 0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5520">
            <a:off x="1559595" y="5348659"/>
            <a:ext cx="6516967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933421" y="5504412"/>
            <a:ext cx="480431" cy="315716"/>
            <a:chOff x="0" y="0"/>
            <a:chExt cx="640575" cy="4209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580" cy="420953"/>
            </a:xfrm>
            <a:custGeom>
              <a:avLst/>
              <a:gdLst/>
              <a:ahLst/>
              <a:cxnLst/>
              <a:rect r="r" b="b" t="t" l="l"/>
              <a:pathLst>
                <a:path h="420953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14" t="0" r="-3431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40575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64843" y="5476961"/>
            <a:ext cx="6588824" cy="384348"/>
            <a:chOff x="0" y="0"/>
            <a:chExt cx="8785098" cy="5124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85103" cy="512458"/>
            </a:xfrm>
            <a:custGeom>
              <a:avLst/>
              <a:gdLst/>
              <a:ahLst/>
              <a:cxnLst/>
              <a:rect r="r" b="b" t="t" l="l"/>
              <a:pathLst>
                <a:path h="512458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31" r="0" b="-2840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785098" cy="512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sz="1426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Duplicate pairs: 0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5520">
            <a:off x="1559595" y="5938914"/>
            <a:ext cx="6516967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33421" y="6094666"/>
            <a:ext cx="480431" cy="315716"/>
            <a:chOff x="0" y="0"/>
            <a:chExt cx="640575" cy="4209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580" cy="420953"/>
            </a:xfrm>
            <a:custGeom>
              <a:avLst/>
              <a:gdLst/>
              <a:ahLst/>
              <a:cxnLst/>
              <a:rect r="r" b="b" t="t" l="l"/>
              <a:pathLst>
                <a:path h="420953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14" t="0" r="-3431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40575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64843" y="6067215"/>
            <a:ext cx="6588824" cy="384348"/>
            <a:chOff x="0" y="0"/>
            <a:chExt cx="8785098" cy="512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103" cy="512458"/>
            </a:xfrm>
            <a:custGeom>
              <a:avLst/>
              <a:gdLst/>
              <a:ahLst/>
              <a:cxnLst/>
              <a:rect r="r" b="b" t="t" l="l"/>
              <a:pathLst>
                <a:path h="512458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12458"/>
                  </a:lnTo>
                  <a:lnTo>
                    <a:pt x="0" y="512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31" r="0" b="-2840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sz="1426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Cycle continuity: passed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rot="5520">
            <a:off x="1559595" y="6529159"/>
            <a:ext cx="6516967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905961" y="7028078"/>
            <a:ext cx="2745343" cy="274539"/>
            <a:chOff x="0" y="0"/>
            <a:chExt cx="3660458" cy="3660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SENSOR FILTER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5961" y="7439882"/>
            <a:ext cx="7343794" cy="617706"/>
            <a:chOff x="0" y="0"/>
            <a:chExt cx="9791725" cy="8236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91729" cy="823603"/>
            </a:xfrm>
            <a:custGeom>
              <a:avLst/>
              <a:gdLst/>
              <a:ahLst/>
              <a:cxnLst/>
              <a:rect r="r" b="b" t="t" l="l"/>
              <a:pathLst>
                <a:path h="823603" w="9791729">
                  <a:moveTo>
                    <a:pt x="0" y="0"/>
                  </a:moveTo>
                  <a:lnTo>
                    <a:pt x="9791729" y="0"/>
                  </a:lnTo>
                  <a:lnTo>
                    <a:pt x="979172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655" r="0" b="-18165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9791725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Drop std &lt; 0.01: s1, s5, s6, s10, s16, s18, s19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5961" y="8126225"/>
            <a:ext cx="7343794" cy="384353"/>
            <a:chOff x="0" y="0"/>
            <a:chExt cx="9791725" cy="5124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91729" cy="512464"/>
            </a:xfrm>
            <a:custGeom>
              <a:avLst/>
              <a:gdLst/>
              <a:ahLst/>
              <a:cxnLst/>
              <a:rect r="r" b="b" t="t" l="l"/>
              <a:pathLst>
                <a:path h="512464" w="9791729">
                  <a:moveTo>
                    <a:pt x="0" y="0"/>
                  </a:moveTo>
                  <a:lnTo>
                    <a:pt x="9791729" y="0"/>
                  </a:lnTo>
                  <a:lnTo>
                    <a:pt x="979172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302" r="0" b="-32230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9791725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14 sensors retained • no labels used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853735" y="0"/>
            <a:ext cx="9448105" cy="10295039"/>
            <a:chOff x="0" y="0"/>
            <a:chExt cx="12597473" cy="13726719"/>
          </a:xfrm>
        </p:grpSpPr>
        <p:sp>
          <p:nvSpPr>
            <p:cNvPr name="Freeform 59" id="59" descr="_neon_gradient.png"/>
            <p:cNvSpPr/>
            <p:nvPr/>
          </p:nvSpPr>
          <p:spPr>
            <a:xfrm flipH="false" flipV="false" rot="0">
              <a:off x="0" y="0"/>
              <a:ext cx="1259751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597511">
                  <a:moveTo>
                    <a:pt x="0" y="0"/>
                  </a:moveTo>
                  <a:lnTo>
                    <a:pt x="12597511" y="0"/>
                  </a:lnTo>
                  <a:lnTo>
                    <a:pt x="12597511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856" t="0" r="-46856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402804" y="796147"/>
            <a:ext cx="3294412" cy="274539"/>
            <a:chOff x="0" y="0"/>
            <a:chExt cx="4392549" cy="3660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92552" cy="366046"/>
            </a:xfrm>
            <a:custGeom>
              <a:avLst/>
              <a:gdLst/>
              <a:ahLst/>
              <a:cxnLst/>
              <a:rect r="r" b="b" t="t" l="l"/>
              <a:pathLst>
                <a:path h="366046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2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392549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LIFETIME RANGE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02804" y="1235402"/>
            <a:ext cx="4804353" cy="411804"/>
            <a:chOff x="0" y="0"/>
            <a:chExt cx="6405804" cy="549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05805" cy="549069"/>
            </a:xfrm>
            <a:custGeom>
              <a:avLst/>
              <a:gdLst/>
              <a:ahLst/>
              <a:cxnLst/>
              <a:rect r="r" b="b" t="t" l="l"/>
              <a:pathLst>
                <a:path h="549069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6405804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~130–360 cycles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61499">
            <a:off x="9687744" y="2456526"/>
            <a:ext cx="3410874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52800">
            <a:off x="10127037" y="2895781"/>
            <a:ext cx="3973592" cy="0"/>
          </a:xfrm>
          <a:prstGeom prst="line">
            <a:avLst/>
          </a:prstGeom>
          <a:ln cap="rnd" w="28575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rot="61259">
            <a:off x="9921097" y="3335036"/>
            <a:ext cx="3424599" cy="0"/>
          </a:xfrm>
          <a:prstGeom prst="line">
            <a:avLst/>
          </a:prstGeom>
          <a:ln cap="rnd" w="28575">
            <a:solidFill>
              <a:srgbClr val="F4F6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rot="53340">
            <a:off x="10676106" y="3774291"/>
            <a:ext cx="3932415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9402804" y="4392549"/>
            <a:ext cx="2745343" cy="274539"/>
            <a:chOff x="0" y="0"/>
            <a:chExt cx="3660458" cy="3660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MIX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02804" y="4776902"/>
            <a:ext cx="6177029" cy="301990"/>
            <a:chOff x="0" y="0"/>
            <a:chExt cx="8236039" cy="40265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36034" cy="402651"/>
            </a:xfrm>
            <a:custGeom>
              <a:avLst/>
              <a:gdLst/>
              <a:ahLst/>
              <a:cxnLst/>
              <a:rect r="r" b="b" t="t" l="l"/>
              <a:pathLst>
                <a:path h="402651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8236039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4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Most rows: high RUL • minority below 50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471441" y="5831110"/>
            <a:ext cx="713794" cy="730263"/>
            <a:chOff x="0" y="0"/>
            <a:chExt cx="951725" cy="9736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51738" cy="973709"/>
            </a:xfrm>
            <a:custGeom>
              <a:avLst/>
              <a:gdLst/>
              <a:ahLst/>
              <a:cxnLst/>
              <a:rect r="r" b="b" t="t" l="l"/>
              <a:pathLst>
                <a:path h="973709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973709"/>
                  </a:lnTo>
                  <a:lnTo>
                    <a:pt x="0" y="973709"/>
                  </a:ln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638215" y="5465978"/>
            <a:ext cx="713794" cy="1095394"/>
            <a:chOff x="0" y="0"/>
            <a:chExt cx="951725" cy="146052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51738" cy="1460500"/>
            </a:xfrm>
            <a:custGeom>
              <a:avLst/>
              <a:gdLst/>
              <a:ahLst/>
              <a:cxnLst/>
              <a:rect r="r" b="b" t="t" l="l"/>
              <a:pathLst>
                <a:path h="1460500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804980" y="5226034"/>
            <a:ext cx="713794" cy="1335338"/>
            <a:chOff x="0" y="0"/>
            <a:chExt cx="951725" cy="17804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51738" cy="1780413"/>
            </a:xfrm>
            <a:custGeom>
              <a:avLst/>
              <a:gdLst/>
              <a:ahLst/>
              <a:cxnLst/>
              <a:rect r="r" b="b" t="t" l="l"/>
              <a:pathLst>
                <a:path h="1780413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1780413"/>
                  </a:lnTo>
                  <a:lnTo>
                    <a:pt x="0" y="1780413"/>
                  </a:lnTo>
                  <a:close/>
                </a:path>
              </a:pathLst>
            </a:custGeom>
            <a:solidFill>
              <a:srgbClr val="98C8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971755" y="5601605"/>
            <a:ext cx="713794" cy="959768"/>
            <a:chOff x="0" y="0"/>
            <a:chExt cx="951725" cy="127969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1738" cy="1279652"/>
            </a:xfrm>
            <a:custGeom>
              <a:avLst/>
              <a:gdLst/>
              <a:ahLst/>
              <a:cxnLst/>
              <a:rect r="r" b="b" t="t" l="l"/>
              <a:pathLst>
                <a:path h="1279652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1279652"/>
                  </a:lnTo>
                  <a:lnTo>
                    <a:pt x="0" y="1279652"/>
                  </a:lnTo>
                  <a:close/>
                </a:path>
              </a:pathLst>
            </a:custGeom>
            <a:solidFill>
              <a:srgbClr val="9DA5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138529" y="5925007"/>
            <a:ext cx="713794" cy="636365"/>
            <a:chOff x="0" y="0"/>
            <a:chExt cx="951725" cy="84848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51738" cy="848487"/>
            </a:xfrm>
            <a:custGeom>
              <a:avLst/>
              <a:gdLst/>
              <a:ahLst/>
              <a:cxnLst/>
              <a:rect r="r" b="b" t="t" l="l"/>
              <a:pathLst>
                <a:path h="848487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848487"/>
                  </a:lnTo>
                  <a:lnTo>
                    <a:pt x="0" y="848487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305294" y="6185811"/>
            <a:ext cx="713794" cy="375561"/>
            <a:chOff x="0" y="0"/>
            <a:chExt cx="951725" cy="5007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51738" cy="500761"/>
            </a:xfrm>
            <a:custGeom>
              <a:avLst/>
              <a:gdLst/>
              <a:ahLst/>
              <a:cxnLst/>
              <a:rect r="r" b="b" t="t" l="l"/>
              <a:pathLst>
                <a:path h="500761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500761"/>
                  </a:lnTo>
                  <a:lnTo>
                    <a:pt x="0" y="500761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sp>
        <p:nvSpPr>
          <p:cNvPr name="AutoShape 88" id="88"/>
          <p:cNvSpPr/>
          <p:nvPr/>
        </p:nvSpPr>
        <p:spPr>
          <a:xfrm rot="6060">
            <a:off x="9355426" y="6556610"/>
            <a:ext cx="7054215" cy="0"/>
          </a:xfrm>
          <a:prstGeom prst="line">
            <a:avLst/>
          </a:prstGeom>
          <a:ln cap="rnd" w="9525">
            <a:solidFill>
              <a:srgbClr val="CDD5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9402804" y="6671186"/>
            <a:ext cx="6657461" cy="274539"/>
            <a:chOff x="0" y="0"/>
            <a:chExt cx="8876614" cy="3660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876615" cy="366046"/>
            </a:xfrm>
            <a:custGeom>
              <a:avLst/>
              <a:gdLst/>
              <a:ahLst/>
              <a:cxnLst/>
              <a:rect r="r" b="b" t="t" l="l"/>
              <a:pathLst>
                <a:path h="366046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511" r="0" b="-42251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8876614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SCHEMATIC • NOT A MEASURED HISTOGRAM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02804" y="7110441"/>
            <a:ext cx="3294412" cy="274539"/>
            <a:chOff x="0" y="0"/>
            <a:chExt cx="4392549" cy="3660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92552" cy="366046"/>
            </a:xfrm>
            <a:custGeom>
              <a:avLst/>
              <a:gdLst/>
              <a:ahLst/>
              <a:cxnLst/>
              <a:rect r="r" b="b" t="t" l="l"/>
              <a:pathLst>
                <a:path h="366046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19" r="0" b="-18382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4392549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SENSOR SIGNAL</a:t>
              </a:r>
            </a:p>
          </p:txBody>
        </p:sp>
      </p:grpSp>
      <p:sp>
        <p:nvSpPr>
          <p:cNvPr name="AutoShape 95" id="95"/>
          <p:cNvSpPr/>
          <p:nvPr/>
        </p:nvSpPr>
        <p:spPr>
          <a:xfrm rot="-881820">
            <a:off x="9436637" y="8590264"/>
            <a:ext cx="961834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rot="292320">
            <a:off x="10342921" y="8507911"/>
            <a:ext cx="933736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rot="-1114560">
            <a:off x="11211277" y="8391230"/>
            <a:ext cx="981504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rot="-292320">
            <a:off x="12127401" y="8233372"/>
            <a:ext cx="933745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rot="-1249380">
            <a:off x="12988814" y="8054921"/>
            <a:ext cx="995382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rot="-492540">
            <a:off x="13908748" y="7849029"/>
            <a:ext cx="939994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rot="-738000">
            <a:off x="14794868" y="7718622"/>
            <a:ext cx="952224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rot="215640">
            <a:off x="9455277" y="8240239"/>
            <a:ext cx="924563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rot="-317280">
            <a:off x="10346455" y="8226514"/>
            <a:ext cx="926687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rot="266520">
            <a:off x="11239271" y="8219646"/>
            <a:ext cx="925525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-164640">
            <a:off x="12132374" y="8233372"/>
            <a:ext cx="923801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rot="-164640">
            <a:off x="13024609" y="8219646"/>
            <a:ext cx="923801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rot="164640">
            <a:off x="13916844" y="8219646"/>
            <a:ext cx="923801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 rot="164640">
            <a:off x="14809079" y="8233372"/>
            <a:ext cx="923801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9" id="109"/>
          <p:cNvGrpSpPr/>
          <p:nvPr/>
        </p:nvGrpSpPr>
        <p:grpSpPr>
          <a:xfrm rot="0">
            <a:off x="9402804" y="8977274"/>
            <a:ext cx="7755598" cy="521616"/>
            <a:chOff x="0" y="0"/>
            <a:chExt cx="10340797" cy="69548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340799" cy="695485"/>
            </a:xfrm>
            <a:custGeom>
              <a:avLst/>
              <a:gdLst/>
              <a:ahLst/>
              <a:cxnLst/>
              <a:rect r="r" b="b" t="t" l="l"/>
              <a:pathLst>
                <a:path h="695485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712" r="0" b="-23971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10340797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315"/>
                </a:lnSpc>
                <a:spcBef>
                  <a:spcPct val="0"/>
                </a:spcBef>
              </a:pPr>
              <a:r>
                <a:rPr lang="en-US" sz="1095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Quality checks passed on train and test: 0 missing values, 0 duplicate rows, 0 duplicate engine–cycle pairs, and continuous cycles in both splits.</a:t>
              </a:r>
            </a:p>
          </p:txBody>
        </p:sp>
      </p:grpSp>
      <p:sp>
        <p:nvSpPr>
          <p:cNvPr name="AutoShape 112" id="112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3" id="113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8510" y="1139314"/>
            <a:ext cx="7206529" cy="329441"/>
            <a:chOff x="0" y="0"/>
            <a:chExt cx="9608706" cy="439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8707" cy="439255"/>
            </a:xfrm>
            <a:custGeom>
              <a:avLst/>
              <a:gdLst/>
              <a:ahLst/>
              <a:cxnLst/>
              <a:rect r="r" b="b" t="t" l="l"/>
              <a:pathLst>
                <a:path h="439255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35" r="0" b="-37623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608706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04 / FEATURE ENGINEERING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78510" y="1619755"/>
            <a:ext cx="7206529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57 features.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No future leakage.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8510" y="3102235"/>
            <a:ext cx="7206529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At cycle t, every feature uses only same-engine history through t.</a:t>
            </a:r>
          </a:p>
        </p:txBody>
      </p:sp>
      <p:sp>
        <p:nvSpPr>
          <p:cNvPr name="AutoShape 18" id="18"/>
          <p:cNvSpPr/>
          <p:nvPr/>
        </p:nvSpPr>
        <p:spPr>
          <a:xfrm rot="5040">
            <a:off x="8366627" y="3015120"/>
            <a:ext cx="907299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503891" y="1846431"/>
            <a:ext cx="589864" cy="589864"/>
            <a:chOff x="0" y="0"/>
            <a:chExt cx="786486" cy="7864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6511" cy="786511"/>
            </a:xfrm>
            <a:custGeom>
              <a:avLst/>
              <a:gdLst/>
              <a:ahLst/>
              <a:cxnLst/>
              <a:rect r="r" b="b" t="t" l="l"/>
              <a:pathLst>
                <a:path h="786511" w="786511">
                  <a:moveTo>
                    <a:pt x="0" y="0"/>
                  </a:moveTo>
                  <a:lnTo>
                    <a:pt x="786511" y="0"/>
                  </a:lnTo>
                  <a:lnTo>
                    <a:pt x="786511" y="786511"/>
                  </a:lnTo>
                  <a:lnTo>
                    <a:pt x="0" y="786511"/>
                  </a:lnTo>
                  <a:close/>
                </a:path>
              </a:pathLst>
            </a:custGeom>
            <a:solidFill>
              <a:srgbClr val="0D1B29"/>
            </a:solidFill>
            <a:ln w="13345" cap="sq">
              <a:solidFill>
                <a:srgbClr val="253440"/>
              </a:solidFill>
              <a:prstDash val="solid"/>
              <a:miter/>
            </a:ln>
          </p:spPr>
        </p:sp>
      </p:grpSp>
      <p:sp>
        <p:nvSpPr>
          <p:cNvPr name="AutoShape 21" id="21"/>
          <p:cNvSpPr/>
          <p:nvPr/>
        </p:nvSpPr>
        <p:spPr>
          <a:xfrm rot="-3584280">
            <a:off x="8528018" y="2143468"/>
            <a:ext cx="267081" cy="0"/>
          </a:xfrm>
          <a:prstGeom prst="line">
            <a:avLst/>
          </a:prstGeom>
          <a:ln cap="rnd" w="952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2866620">
            <a:off x="8671227" y="2102291"/>
            <a:ext cx="200292" cy="0"/>
          </a:xfrm>
          <a:prstGeom prst="line">
            <a:avLst/>
          </a:prstGeom>
          <a:ln cap="rnd" w="952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-3524880">
            <a:off x="8745103" y="2054247"/>
            <a:ext cx="285893" cy="0"/>
          </a:xfrm>
          <a:prstGeom prst="line">
            <a:avLst/>
          </a:prstGeom>
          <a:ln cap="rnd" w="952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9402804" y="1688382"/>
            <a:ext cx="2951245" cy="384353"/>
            <a:chOff x="0" y="0"/>
            <a:chExt cx="3934993" cy="5124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34994" cy="512464"/>
            </a:xfrm>
            <a:custGeom>
              <a:avLst/>
              <a:gdLst/>
              <a:ahLst/>
              <a:cxnLst/>
              <a:rect r="r" b="b" t="t" l="l"/>
              <a:pathLst>
                <a:path h="512464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16" r="0" b="-996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Rolling mean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59951" y="1660931"/>
            <a:ext cx="4584725" cy="851059"/>
            <a:chOff x="0" y="0"/>
            <a:chExt cx="6112967" cy="11347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12968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12968">
                  <a:moveTo>
                    <a:pt x="0" y="0"/>
                  </a:moveTo>
                  <a:lnTo>
                    <a:pt x="6112968" y="0"/>
                  </a:lnTo>
                  <a:lnTo>
                    <a:pt x="611296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67" r="0" b="-549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11296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7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Average of the last 5 cycles; smooths measurement noise.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5040">
            <a:off x="8366627" y="4730953"/>
            <a:ext cx="907299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8503891" y="3562274"/>
            <a:ext cx="589864" cy="589864"/>
            <a:chOff x="0" y="0"/>
            <a:chExt cx="786486" cy="7864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6511" cy="786511"/>
            </a:xfrm>
            <a:custGeom>
              <a:avLst/>
              <a:gdLst/>
              <a:ahLst/>
              <a:cxnLst/>
              <a:rect r="r" b="b" t="t" l="l"/>
              <a:pathLst>
                <a:path h="786511" w="786511">
                  <a:moveTo>
                    <a:pt x="0" y="0"/>
                  </a:moveTo>
                  <a:lnTo>
                    <a:pt x="786511" y="0"/>
                  </a:lnTo>
                  <a:lnTo>
                    <a:pt x="786511" y="786511"/>
                  </a:lnTo>
                  <a:lnTo>
                    <a:pt x="0" y="786511"/>
                  </a:lnTo>
                  <a:close/>
                </a:path>
              </a:pathLst>
            </a:custGeom>
            <a:solidFill>
              <a:srgbClr val="0D1B29"/>
            </a:solidFill>
            <a:ln w="13345" cap="sq">
              <a:solidFill>
                <a:srgbClr val="253440"/>
              </a:solidFill>
              <a:prstDash val="solid"/>
              <a:miter/>
            </a:ln>
          </p:spPr>
        </p:sp>
      </p:grpSp>
      <p:sp>
        <p:nvSpPr>
          <p:cNvPr name="AutoShape 33" id="33"/>
          <p:cNvSpPr/>
          <p:nvPr/>
        </p:nvSpPr>
        <p:spPr>
          <a:xfrm rot="-2632800">
            <a:off x="8536734" y="3813372"/>
            <a:ext cx="496729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402804" y="3404225"/>
            <a:ext cx="2951245" cy="384353"/>
            <a:chOff x="0" y="0"/>
            <a:chExt cx="3934993" cy="5124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34994" cy="512464"/>
            </a:xfrm>
            <a:custGeom>
              <a:avLst/>
              <a:gdLst/>
              <a:ahLst/>
              <a:cxnLst/>
              <a:rect r="r" b="b" t="t" l="l"/>
              <a:pathLst>
                <a:path h="512464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16" r="0" b="-9961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Rolling slope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559951" y="3376774"/>
            <a:ext cx="4584725" cy="851059"/>
            <a:chOff x="0" y="0"/>
            <a:chExt cx="6112967" cy="11347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12968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12968">
                  <a:moveTo>
                    <a:pt x="0" y="0"/>
                  </a:moveTo>
                  <a:lnTo>
                    <a:pt x="6112968" y="0"/>
                  </a:lnTo>
                  <a:lnTo>
                    <a:pt x="611296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67" r="0" b="-5496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11296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7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(value now − value 4 cycles ago) / 4; captures speed of drift.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5040">
            <a:off x="8366627" y="6446796"/>
            <a:ext cx="907299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8503891" y="5278117"/>
            <a:ext cx="589864" cy="589864"/>
            <a:chOff x="0" y="0"/>
            <a:chExt cx="786486" cy="7864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6511" cy="786511"/>
            </a:xfrm>
            <a:custGeom>
              <a:avLst/>
              <a:gdLst/>
              <a:ahLst/>
              <a:cxnLst/>
              <a:rect r="r" b="b" t="t" l="l"/>
              <a:pathLst>
                <a:path h="786511" w="786511">
                  <a:moveTo>
                    <a:pt x="0" y="0"/>
                  </a:moveTo>
                  <a:lnTo>
                    <a:pt x="786511" y="0"/>
                  </a:lnTo>
                  <a:lnTo>
                    <a:pt x="786511" y="786511"/>
                  </a:lnTo>
                  <a:lnTo>
                    <a:pt x="0" y="786511"/>
                  </a:lnTo>
                  <a:close/>
                </a:path>
              </a:pathLst>
            </a:custGeom>
            <a:solidFill>
              <a:srgbClr val="0D1B29"/>
            </a:solidFill>
            <a:ln w="13345" cap="sq">
              <a:solidFill>
                <a:srgbClr val="25344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689019" y="5449510"/>
            <a:ext cx="192176" cy="192176"/>
            <a:chOff x="0" y="0"/>
            <a:chExt cx="256235" cy="2562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9DA5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402804" y="5120068"/>
            <a:ext cx="2951245" cy="384353"/>
            <a:chOff x="0" y="0"/>
            <a:chExt cx="3934993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34994" cy="512464"/>
            </a:xfrm>
            <a:custGeom>
              <a:avLst/>
              <a:gdLst/>
              <a:ahLst/>
              <a:cxnLst/>
              <a:rect r="r" b="b" t="t" l="l"/>
              <a:pathLst>
                <a:path h="512464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16" r="0" b="-9961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Health vs. start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559951" y="5092617"/>
            <a:ext cx="4584725" cy="851059"/>
            <a:chOff x="0" y="0"/>
            <a:chExt cx="6112967" cy="11347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112968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12968">
                  <a:moveTo>
                    <a:pt x="0" y="0"/>
                  </a:moveTo>
                  <a:lnTo>
                    <a:pt x="6112968" y="0"/>
                  </a:lnTo>
                  <a:lnTo>
                    <a:pt x="6112968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67" r="0" b="-5496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112967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7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Reading minus that engine’s mean over its first 10 cycles.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99293" y="7337127"/>
            <a:ext cx="6670805" cy="1413472"/>
            <a:chOff x="0" y="0"/>
            <a:chExt cx="8894407" cy="18846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894445" cy="1884680"/>
            </a:xfrm>
            <a:custGeom>
              <a:avLst/>
              <a:gdLst/>
              <a:ahLst/>
              <a:cxnLst/>
              <a:rect r="r" b="b" t="t" l="l"/>
              <a:pathLst>
                <a:path h="1884680" w="8894445">
                  <a:moveTo>
                    <a:pt x="0" y="0"/>
                  </a:moveTo>
                  <a:lnTo>
                    <a:pt x="8894445" y="0"/>
                  </a:lnTo>
                  <a:lnTo>
                    <a:pt x="8894445" y="1884680"/>
                  </a:lnTo>
                  <a:lnTo>
                    <a:pt x="0" y="1884680"/>
                  </a:lnTo>
                  <a:close/>
                </a:path>
              </a:pathLst>
            </a:custGeom>
            <a:solidFill>
              <a:srgbClr val="0D1822"/>
            </a:solidFill>
            <a:ln w="13345" cap="sq">
              <a:solidFill>
                <a:srgbClr val="25344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35402" y="7618333"/>
            <a:ext cx="2333539" cy="274539"/>
            <a:chOff x="0" y="0"/>
            <a:chExt cx="3111386" cy="3660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11391" cy="366046"/>
            </a:xfrm>
            <a:custGeom>
              <a:avLst/>
              <a:gdLst/>
              <a:ahLst/>
              <a:cxnLst/>
              <a:rect r="r" b="b" t="t" l="l"/>
              <a:pathLst>
                <a:path h="366046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1" r="0" b="-11562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111386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FEATURE COUNT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5402" y="8030137"/>
            <a:ext cx="5765225" cy="439255"/>
            <a:chOff x="0" y="0"/>
            <a:chExt cx="7686967" cy="5856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86966" cy="585674"/>
            </a:xfrm>
            <a:custGeom>
              <a:avLst/>
              <a:gdLst/>
              <a:ahLst/>
              <a:cxnLst/>
              <a:rect r="r" b="b" t="t" l="l"/>
              <a:pathLst>
                <a:path h="585674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76869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1 cycle + 14 sensors + (14 × 3) = 57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886195" y="7337127"/>
            <a:ext cx="9512236" cy="1413472"/>
            <a:chOff x="0" y="0"/>
            <a:chExt cx="12682982" cy="188462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682982" cy="1884680"/>
            </a:xfrm>
            <a:custGeom>
              <a:avLst/>
              <a:gdLst/>
              <a:ahLst/>
              <a:cxnLst/>
              <a:rect r="r" b="b" t="t" l="l"/>
              <a:pathLst>
                <a:path h="1884680" w="12682982">
                  <a:moveTo>
                    <a:pt x="0" y="0"/>
                  </a:moveTo>
                  <a:lnTo>
                    <a:pt x="12682982" y="0"/>
                  </a:lnTo>
                  <a:lnTo>
                    <a:pt x="12682982" y="1884680"/>
                  </a:lnTo>
                  <a:lnTo>
                    <a:pt x="0" y="1884680"/>
                  </a:lnTo>
                  <a:close/>
                </a:path>
              </a:pathLst>
            </a:custGeom>
            <a:solidFill>
              <a:srgbClr val="0A131D"/>
            </a:solidFill>
            <a:ln w="13345" cap="sq">
              <a:solidFill>
                <a:srgbClr val="25344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8263490" y="7618333"/>
            <a:ext cx="2470814" cy="274539"/>
            <a:chOff x="0" y="0"/>
            <a:chExt cx="3294418" cy="3660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4414" cy="366046"/>
            </a:xfrm>
            <a:custGeom>
              <a:avLst/>
              <a:gdLst/>
              <a:ahLst/>
              <a:cxnLst/>
              <a:rect r="r" b="b" t="t" l="l"/>
              <a:pathLst>
                <a:path h="366046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4" r="0" b="-12536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29441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CAUSALITY RULE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63490" y="8030137"/>
            <a:ext cx="8510568" cy="466706"/>
            <a:chOff x="0" y="0"/>
            <a:chExt cx="11347425" cy="62227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347425" cy="622278"/>
            </a:xfrm>
            <a:custGeom>
              <a:avLst/>
              <a:gdLst/>
              <a:ahLst/>
              <a:cxnLst/>
              <a:rect r="r" b="b" t="t" l="l"/>
              <a:pathLst>
                <a:path h="622278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15" r="0" b="-30531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1347425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Health is 0 before cycle 10 (no future data). No information crosses engines; FD001 needs no regime feature.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26411" y="0"/>
            <a:ext cx="8075428" cy="10295039"/>
            <a:chOff x="0" y="0"/>
            <a:chExt cx="10767238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1076718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767187">
                  <a:moveTo>
                    <a:pt x="0" y="0"/>
                  </a:moveTo>
                  <a:lnTo>
                    <a:pt x="10767187" y="0"/>
                  </a:lnTo>
                  <a:lnTo>
                    <a:pt x="10767187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3321" t="0" r="-633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8167402" cy="329441"/>
            <a:chOff x="0" y="0"/>
            <a:chExt cx="10889869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89868" cy="439255"/>
            </a:xfrm>
            <a:custGeom>
              <a:avLst/>
              <a:gdLst/>
              <a:ahLst/>
              <a:cxnLst/>
              <a:rect r="r" b="b" t="t" l="l"/>
              <a:pathLst>
                <a:path h="439255" w="10889868">
                  <a:moveTo>
                    <a:pt x="0" y="0"/>
                  </a:moveTo>
                  <a:lnTo>
                    <a:pt x="10889868" y="0"/>
                  </a:lnTo>
                  <a:lnTo>
                    <a:pt x="1088986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889869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05 / EVALUATION DESIGN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8167402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Split by engine,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never by row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8167402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GroupKFold keeps all cycles from one engine in one fold.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5961" y="4118019"/>
            <a:ext cx="7755598" cy="988324"/>
            <a:chOff x="0" y="0"/>
            <a:chExt cx="10340797" cy="1317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40799" cy="1317765"/>
            </a:xfrm>
            <a:custGeom>
              <a:avLst/>
              <a:gdLst/>
              <a:ahLst/>
              <a:cxnLst/>
              <a:rect r="r" b="b" t="t" l="l"/>
              <a:pathLst>
                <a:path h="1317765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903" r="0" b="-10290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340797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Near-duplicate cycles from one engine must not cross train and validation; that would inflate scores.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421" y="5490686"/>
            <a:ext cx="1647206" cy="301990"/>
            <a:chOff x="0" y="0"/>
            <a:chExt cx="2196274" cy="4026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6276" cy="402651"/>
            </a:xfrm>
            <a:custGeom>
              <a:avLst/>
              <a:gdLst/>
              <a:ahLst/>
              <a:cxnLst/>
              <a:rect r="r" b="b" t="t" l="l"/>
              <a:pathLst>
                <a:path h="402651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281" r="0" b="-562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196274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RMSE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45343" y="5490686"/>
            <a:ext cx="4941618" cy="301990"/>
            <a:chOff x="0" y="0"/>
            <a:chExt cx="6588823" cy="402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8827" cy="402651"/>
            </a:xfrm>
            <a:custGeom>
              <a:avLst/>
              <a:gdLst/>
              <a:ahLst/>
              <a:cxnLst/>
              <a:rect r="r" b="b" t="t" l="l"/>
              <a:pathLst>
                <a:path h="402651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845" r="0" b="-2688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588823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squared-error sensitive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180">
            <a:off x="2740571" y="5911453"/>
            <a:ext cx="5308054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33421" y="6149569"/>
            <a:ext cx="1647206" cy="301990"/>
            <a:chOff x="0" y="0"/>
            <a:chExt cx="2196274" cy="4026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6276" cy="402651"/>
            </a:xfrm>
            <a:custGeom>
              <a:avLst/>
              <a:gdLst/>
              <a:ahLst/>
              <a:cxnLst/>
              <a:rect r="r" b="b" t="t" l="l"/>
              <a:pathLst>
                <a:path h="402651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281" r="0" b="-5628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196274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MAE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745343" y="6149569"/>
            <a:ext cx="4941618" cy="301990"/>
            <a:chOff x="0" y="0"/>
            <a:chExt cx="6588823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8827" cy="402651"/>
            </a:xfrm>
            <a:custGeom>
              <a:avLst/>
              <a:gdLst/>
              <a:ahLst/>
              <a:cxnLst/>
              <a:rect r="r" b="b" t="t" l="l"/>
              <a:pathLst>
                <a:path h="402651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845" r="0" b="-2688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588823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absolute error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6180">
            <a:off x="2740571" y="6570335"/>
            <a:ext cx="5308054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933421" y="6808451"/>
            <a:ext cx="1647206" cy="301990"/>
            <a:chOff x="0" y="0"/>
            <a:chExt cx="2196274" cy="40265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6276" cy="402651"/>
            </a:xfrm>
            <a:custGeom>
              <a:avLst/>
              <a:gdLst/>
              <a:ahLst/>
              <a:cxnLst/>
              <a:rect r="r" b="b" t="t" l="l"/>
              <a:pathLst>
                <a:path h="402651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281" r="0" b="-562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196274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Early MAE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745343" y="6808451"/>
            <a:ext cx="4941618" cy="301990"/>
            <a:chOff x="0" y="0"/>
            <a:chExt cx="6588823" cy="4026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8827" cy="402651"/>
            </a:xfrm>
            <a:custGeom>
              <a:avLst/>
              <a:gdLst/>
              <a:ahLst/>
              <a:cxnLst/>
              <a:rect r="r" b="b" t="t" l="l"/>
              <a:pathLst>
                <a:path h="402651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845" r="0" b="-2688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588823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RUL ≥ 50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6180">
            <a:off x="2740571" y="7229218"/>
            <a:ext cx="5308054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933421" y="7467333"/>
            <a:ext cx="1647206" cy="301990"/>
            <a:chOff x="0" y="0"/>
            <a:chExt cx="2196274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6276" cy="402651"/>
            </a:xfrm>
            <a:custGeom>
              <a:avLst/>
              <a:gdLst/>
              <a:ahLst/>
              <a:cxnLst/>
              <a:rect r="r" b="b" t="t" l="l"/>
              <a:pathLst>
                <a:path h="402651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281" r="0" b="-562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196274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Late MAE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745343" y="7467333"/>
            <a:ext cx="4941618" cy="301990"/>
            <a:chOff x="0" y="0"/>
            <a:chExt cx="6588823" cy="4026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8827" cy="402651"/>
            </a:xfrm>
            <a:custGeom>
              <a:avLst/>
              <a:gdLst/>
              <a:ahLst/>
              <a:cxnLst/>
              <a:rect r="r" b="b" t="t" l="l"/>
              <a:pathLst>
                <a:path h="402651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8845" r="0" b="-26884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588823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RUL &lt; 50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6180">
            <a:off x="2740571" y="7888100"/>
            <a:ext cx="5308054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0748029" y="892235"/>
            <a:ext cx="6314294" cy="274539"/>
            <a:chOff x="0" y="0"/>
            <a:chExt cx="8419059" cy="3660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419057" cy="366046"/>
            </a:xfrm>
            <a:custGeom>
              <a:avLst/>
              <a:gdLst/>
              <a:ahLst/>
              <a:cxnLst/>
              <a:rect r="r" b="b" t="t" l="l"/>
              <a:pathLst>
                <a:path h="366046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55" r="0" b="-39815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8419059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ONE ROUND / 5-FOLD GROUPKFOLD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789206" y="1578569"/>
            <a:ext cx="1029500" cy="439255"/>
            <a:chOff x="0" y="0"/>
            <a:chExt cx="1372667" cy="58567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72672" cy="585674"/>
            </a:xfrm>
            <a:custGeom>
              <a:avLst/>
              <a:gdLst/>
              <a:ahLst/>
              <a:cxnLst/>
              <a:rect r="r" b="b" t="t" l="l"/>
              <a:pathLst>
                <a:path h="585674" w="1372672">
                  <a:moveTo>
                    <a:pt x="0" y="0"/>
                  </a:moveTo>
                  <a:lnTo>
                    <a:pt x="1372672" y="0"/>
                  </a:lnTo>
                  <a:lnTo>
                    <a:pt x="13726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3" t="0" r="-474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3726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789206" y="2306088"/>
            <a:ext cx="1015775" cy="3157147"/>
            <a:chOff x="0" y="0"/>
            <a:chExt cx="1354366" cy="42095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54328" cy="4209542"/>
            </a:xfrm>
            <a:custGeom>
              <a:avLst/>
              <a:gdLst/>
              <a:ahLst/>
              <a:cxnLst/>
              <a:rect r="r" b="b" t="t" l="l"/>
              <a:pathLst>
                <a:path h="4209542" w="1354328">
                  <a:moveTo>
                    <a:pt x="0" y="0"/>
                  </a:moveTo>
                  <a:lnTo>
                    <a:pt x="1354328" y="0"/>
                  </a:lnTo>
                  <a:lnTo>
                    <a:pt x="1354328" y="4209542"/>
                  </a:lnTo>
                  <a:lnTo>
                    <a:pt x="0" y="4209542"/>
                  </a:lnTo>
                  <a:close/>
                </a:path>
              </a:pathLst>
            </a:custGeom>
            <a:solidFill>
              <a:srgbClr val="25328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912745" y="2580627"/>
            <a:ext cx="768696" cy="274539"/>
            <a:chOff x="0" y="0"/>
            <a:chExt cx="1024928" cy="3660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912745" y="3102235"/>
            <a:ext cx="768696" cy="274539"/>
            <a:chOff x="0" y="0"/>
            <a:chExt cx="1024928" cy="3660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912745" y="3623853"/>
            <a:ext cx="768696" cy="274539"/>
            <a:chOff x="0" y="0"/>
            <a:chExt cx="1024928" cy="3660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12745" y="4145471"/>
            <a:ext cx="768696" cy="274539"/>
            <a:chOff x="0" y="0"/>
            <a:chExt cx="1024928" cy="3660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912745" y="4667088"/>
            <a:ext cx="768696" cy="274539"/>
            <a:chOff x="0" y="0"/>
            <a:chExt cx="1024928" cy="3660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734294" y="5655412"/>
            <a:ext cx="1125588" cy="754971"/>
            <a:chOff x="0" y="0"/>
            <a:chExt cx="1500784" cy="100662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00789" cy="1006626"/>
            </a:xfrm>
            <a:custGeom>
              <a:avLst/>
              <a:gdLst/>
              <a:ahLst/>
              <a:cxnLst/>
              <a:rect r="r" b="b" t="t" l="l"/>
              <a:pathLst>
                <a:path h="1006626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057" t="0" r="-3605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1500784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engines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665666" y="6616284"/>
            <a:ext cx="1235402" cy="301990"/>
            <a:chOff x="0" y="0"/>
            <a:chExt cx="1647203" cy="40265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647207" cy="402651"/>
            </a:xfrm>
            <a:custGeom>
              <a:avLst/>
              <a:gdLst/>
              <a:ahLst/>
              <a:cxnLst/>
              <a:rect r="r" b="b" t="t" l="l"/>
              <a:pathLst>
                <a:path h="40265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0" r="0" b="-2971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64720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3"/>
                </a:lnSpc>
              </a:pPr>
              <a:r>
                <a:rPr lang="en-US" sz="111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VALIDATE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189333" y="1578569"/>
            <a:ext cx="1029500" cy="439255"/>
            <a:chOff x="0" y="0"/>
            <a:chExt cx="1372667" cy="58567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2672" cy="585674"/>
            </a:xfrm>
            <a:custGeom>
              <a:avLst/>
              <a:gdLst/>
              <a:ahLst/>
              <a:cxnLst/>
              <a:rect r="r" b="b" t="t" l="l"/>
              <a:pathLst>
                <a:path h="585674" w="1372672">
                  <a:moveTo>
                    <a:pt x="0" y="0"/>
                  </a:moveTo>
                  <a:lnTo>
                    <a:pt x="1372672" y="0"/>
                  </a:lnTo>
                  <a:lnTo>
                    <a:pt x="13726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3" t="0" r="-474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3726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189333" y="2306088"/>
            <a:ext cx="1015775" cy="3157147"/>
            <a:chOff x="0" y="0"/>
            <a:chExt cx="1354366" cy="420952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54328" cy="4209542"/>
            </a:xfrm>
            <a:custGeom>
              <a:avLst/>
              <a:gdLst/>
              <a:ahLst/>
              <a:cxnLst/>
              <a:rect r="r" b="b" t="t" l="l"/>
              <a:pathLst>
                <a:path h="4209542" w="1354328">
                  <a:moveTo>
                    <a:pt x="0" y="0"/>
                  </a:moveTo>
                  <a:lnTo>
                    <a:pt x="1354328" y="0"/>
                  </a:lnTo>
                  <a:lnTo>
                    <a:pt x="1354328" y="4209542"/>
                  </a:lnTo>
                  <a:lnTo>
                    <a:pt x="0" y="4209542"/>
                  </a:lnTo>
                  <a:close/>
                </a:path>
              </a:pathLst>
            </a:custGeom>
            <a:solidFill>
              <a:srgbClr val="25328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312872" y="2580627"/>
            <a:ext cx="768696" cy="274539"/>
            <a:chOff x="0" y="0"/>
            <a:chExt cx="1024928" cy="3660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312872" y="3102235"/>
            <a:ext cx="768696" cy="274539"/>
            <a:chOff x="0" y="0"/>
            <a:chExt cx="1024928" cy="3660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312872" y="3623853"/>
            <a:ext cx="768696" cy="274539"/>
            <a:chOff x="0" y="0"/>
            <a:chExt cx="1024928" cy="3660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312872" y="4145471"/>
            <a:ext cx="768696" cy="274539"/>
            <a:chOff x="0" y="0"/>
            <a:chExt cx="1024928" cy="3660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312872" y="4667088"/>
            <a:ext cx="768696" cy="274539"/>
            <a:chOff x="0" y="0"/>
            <a:chExt cx="1024928" cy="3660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134421" y="5655412"/>
            <a:ext cx="1125588" cy="754971"/>
            <a:chOff x="0" y="0"/>
            <a:chExt cx="1500784" cy="100662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500789" cy="1006626"/>
            </a:xfrm>
            <a:custGeom>
              <a:avLst/>
              <a:gdLst/>
              <a:ahLst/>
              <a:cxnLst/>
              <a:rect r="r" b="b" t="t" l="l"/>
              <a:pathLst>
                <a:path h="1006626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057" t="0" r="-3605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1500784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engines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065794" y="6616284"/>
            <a:ext cx="1235402" cy="301990"/>
            <a:chOff x="0" y="0"/>
            <a:chExt cx="1647203" cy="40265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47207" cy="402651"/>
            </a:xfrm>
            <a:custGeom>
              <a:avLst/>
              <a:gdLst/>
              <a:ahLst/>
              <a:cxnLst/>
              <a:rect r="r" b="b" t="t" l="l"/>
              <a:pathLst>
                <a:path h="40265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0" r="0" b="-2971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64720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3"/>
                </a:lnSpc>
              </a:pPr>
              <a:r>
                <a:rPr lang="en-US" sz="111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TRAIN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589460" y="1578569"/>
            <a:ext cx="1029500" cy="439255"/>
            <a:chOff x="0" y="0"/>
            <a:chExt cx="1372667" cy="58567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72672" cy="585674"/>
            </a:xfrm>
            <a:custGeom>
              <a:avLst/>
              <a:gdLst/>
              <a:ahLst/>
              <a:cxnLst/>
              <a:rect r="r" b="b" t="t" l="l"/>
              <a:pathLst>
                <a:path h="585674" w="1372672">
                  <a:moveTo>
                    <a:pt x="0" y="0"/>
                  </a:moveTo>
                  <a:lnTo>
                    <a:pt x="1372672" y="0"/>
                  </a:lnTo>
                  <a:lnTo>
                    <a:pt x="13726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3" t="0" r="-4742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13726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589460" y="2306088"/>
            <a:ext cx="1015775" cy="3157147"/>
            <a:chOff x="0" y="0"/>
            <a:chExt cx="1354366" cy="420952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54328" cy="4209542"/>
            </a:xfrm>
            <a:custGeom>
              <a:avLst/>
              <a:gdLst/>
              <a:ahLst/>
              <a:cxnLst/>
              <a:rect r="r" b="b" t="t" l="l"/>
              <a:pathLst>
                <a:path h="4209542" w="1354328">
                  <a:moveTo>
                    <a:pt x="0" y="0"/>
                  </a:moveTo>
                  <a:lnTo>
                    <a:pt x="1354328" y="0"/>
                  </a:lnTo>
                  <a:lnTo>
                    <a:pt x="1354328" y="4209542"/>
                  </a:lnTo>
                  <a:lnTo>
                    <a:pt x="0" y="4209542"/>
                  </a:lnTo>
                  <a:close/>
                </a:path>
              </a:pathLst>
            </a:custGeom>
            <a:solidFill>
              <a:srgbClr val="25328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713000" y="2580627"/>
            <a:ext cx="768696" cy="274539"/>
            <a:chOff x="0" y="0"/>
            <a:chExt cx="1024928" cy="3660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713000" y="3102235"/>
            <a:ext cx="768696" cy="274539"/>
            <a:chOff x="0" y="0"/>
            <a:chExt cx="1024928" cy="3660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713000" y="3623853"/>
            <a:ext cx="768696" cy="274539"/>
            <a:chOff x="0" y="0"/>
            <a:chExt cx="1024928" cy="3660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713000" y="4145471"/>
            <a:ext cx="768696" cy="274539"/>
            <a:chOff x="0" y="0"/>
            <a:chExt cx="1024928" cy="3660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713000" y="4667088"/>
            <a:ext cx="768696" cy="274539"/>
            <a:chOff x="0" y="0"/>
            <a:chExt cx="1024928" cy="3660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534549" y="5655412"/>
            <a:ext cx="1125588" cy="754971"/>
            <a:chOff x="0" y="0"/>
            <a:chExt cx="1500784" cy="100662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500789" cy="1006626"/>
            </a:xfrm>
            <a:custGeom>
              <a:avLst/>
              <a:gdLst/>
              <a:ahLst/>
              <a:cxnLst/>
              <a:rect r="r" b="b" t="t" l="l"/>
              <a:pathLst>
                <a:path h="1006626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057" t="0" r="-36057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500784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engines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3465912" y="6616284"/>
            <a:ext cx="1235402" cy="301990"/>
            <a:chOff x="0" y="0"/>
            <a:chExt cx="1647203" cy="40265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647207" cy="402651"/>
            </a:xfrm>
            <a:custGeom>
              <a:avLst/>
              <a:gdLst/>
              <a:ahLst/>
              <a:cxnLst/>
              <a:rect r="r" b="b" t="t" l="l"/>
              <a:pathLst>
                <a:path h="40265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0" r="0" b="-29711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164720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3"/>
                </a:lnSpc>
              </a:pPr>
              <a:r>
                <a:rPr lang="en-US" sz="111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TRAIN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989578" y="1578569"/>
            <a:ext cx="1029500" cy="439255"/>
            <a:chOff x="0" y="0"/>
            <a:chExt cx="1372667" cy="58567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372672" cy="585674"/>
            </a:xfrm>
            <a:custGeom>
              <a:avLst/>
              <a:gdLst/>
              <a:ahLst/>
              <a:cxnLst/>
              <a:rect r="r" b="b" t="t" l="l"/>
              <a:pathLst>
                <a:path h="585674" w="1372672">
                  <a:moveTo>
                    <a:pt x="0" y="0"/>
                  </a:moveTo>
                  <a:lnTo>
                    <a:pt x="1372672" y="0"/>
                  </a:lnTo>
                  <a:lnTo>
                    <a:pt x="13726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3" t="0" r="-4742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3726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989578" y="2306088"/>
            <a:ext cx="1015775" cy="3157147"/>
            <a:chOff x="0" y="0"/>
            <a:chExt cx="1354366" cy="420952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354328" cy="4209542"/>
            </a:xfrm>
            <a:custGeom>
              <a:avLst/>
              <a:gdLst/>
              <a:ahLst/>
              <a:cxnLst/>
              <a:rect r="r" b="b" t="t" l="l"/>
              <a:pathLst>
                <a:path h="4209542" w="1354328">
                  <a:moveTo>
                    <a:pt x="0" y="0"/>
                  </a:moveTo>
                  <a:lnTo>
                    <a:pt x="1354328" y="0"/>
                  </a:lnTo>
                  <a:lnTo>
                    <a:pt x="1354328" y="4209542"/>
                  </a:lnTo>
                  <a:lnTo>
                    <a:pt x="0" y="4209542"/>
                  </a:lnTo>
                  <a:close/>
                </a:path>
              </a:pathLst>
            </a:custGeom>
            <a:solidFill>
              <a:srgbClr val="25328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5113127" y="2580627"/>
            <a:ext cx="768696" cy="274539"/>
            <a:chOff x="0" y="0"/>
            <a:chExt cx="1024928" cy="3660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5113127" y="3102235"/>
            <a:ext cx="768696" cy="274539"/>
            <a:chOff x="0" y="0"/>
            <a:chExt cx="1024928" cy="3660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5113127" y="3623853"/>
            <a:ext cx="768696" cy="274539"/>
            <a:chOff x="0" y="0"/>
            <a:chExt cx="1024928" cy="3660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5113127" y="4145471"/>
            <a:ext cx="768696" cy="274539"/>
            <a:chOff x="0" y="0"/>
            <a:chExt cx="1024928" cy="3660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5113127" y="4667088"/>
            <a:ext cx="768696" cy="274539"/>
            <a:chOff x="0" y="0"/>
            <a:chExt cx="1024928" cy="3660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4934676" y="5655412"/>
            <a:ext cx="1125588" cy="754971"/>
            <a:chOff x="0" y="0"/>
            <a:chExt cx="1500784" cy="1006627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500789" cy="1006626"/>
            </a:xfrm>
            <a:custGeom>
              <a:avLst/>
              <a:gdLst/>
              <a:ahLst/>
              <a:cxnLst/>
              <a:rect r="r" b="b" t="t" l="l"/>
              <a:pathLst>
                <a:path h="1006626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057" t="0" r="-36057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1500784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engines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4866039" y="6616284"/>
            <a:ext cx="1235402" cy="301990"/>
            <a:chOff x="0" y="0"/>
            <a:chExt cx="1647203" cy="402654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647207" cy="402651"/>
            </a:xfrm>
            <a:custGeom>
              <a:avLst/>
              <a:gdLst/>
              <a:ahLst/>
              <a:cxnLst/>
              <a:rect r="r" b="b" t="t" l="l"/>
              <a:pathLst>
                <a:path h="40265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0" r="0" b="-2971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164720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3"/>
                </a:lnSpc>
              </a:pPr>
              <a:r>
                <a:rPr lang="en-US" sz="111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TRAIN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6389706" y="1578569"/>
            <a:ext cx="1029500" cy="439255"/>
            <a:chOff x="0" y="0"/>
            <a:chExt cx="1372667" cy="58567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372672" cy="585674"/>
            </a:xfrm>
            <a:custGeom>
              <a:avLst/>
              <a:gdLst/>
              <a:ahLst/>
              <a:cxnLst/>
              <a:rect r="r" b="b" t="t" l="l"/>
              <a:pathLst>
                <a:path h="585674" w="1372672">
                  <a:moveTo>
                    <a:pt x="0" y="0"/>
                  </a:moveTo>
                  <a:lnTo>
                    <a:pt x="1372672" y="0"/>
                  </a:lnTo>
                  <a:lnTo>
                    <a:pt x="137267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3" t="0" r="-4742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1372667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6389706" y="2306088"/>
            <a:ext cx="1015775" cy="3157147"/>
            <a:chOff x="0" y="0"/>
            <a:chExt cx="1354366" cy="4209529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354328" cy="4209542"/>
            </a:xfrm>
            <a:custGeom>
              <a:avLst/>
              <a:gdLst/>
              <a:ahLst/>
              <a:cxnLst/>
              <a:rect r="r" b="b" t="t" l="l"/>
              <a:pathLst>
                <a:path h="4209542" w="1354328">
                  <a:moveTo>
                    <a:pt x="0" y="0"/>
                  </a:moveTo>
                  <a:lnTo>
                    <a:pt x="1354328" y="0"/>
                  </a:lnTo>
                  <a:lnTo>
                    <a:pt x="1354328" y="4209542"/>
                  </a:lnTo>
                  <a:lnTo>
                    <a:pt x="0" y="4209542"/>
                  </a:lnTo>
                  <a:close/>
                </a:path>
              </a:pathLst>
            </a:custGeom>
            <a:solidFill>
              <a:srgbClr val="253286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6513245" y="2580627"/>
            <a:ext cx="768696" cy="274539"/>
            <a:chOff x="0" y="0"/>
            <a:chExt cx="1024928" cy="3660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6513245" y="3102235"/>
            <a:ext cx="768696" cy="274539"/>
            <a:chOff x="0" y="0"/>
            <a:chExt cx="1024928" cy="36605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6513245" y="3623853"/>
            <a:ext cx="768696" cy="274539"/>
            <a:chOff x="0" y="0"/>
            <a:chExt cx="1024928" cy="36605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6513245" y="4145471"/>
            <a:ext cx="768696" cy="274539"/>
            <a:chOff x="0" y="0"/>
            <a:chExt cx="1024928" cy="3660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6513245" y="4667088"/>
            <a:ext cx="768696" cy="274539"/>
            <a:chOff x="0" y="0"/>
            <a:chExt cx="1024928" cy="36605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24890" cy="366014"/>
            </a:xfrm>
            <a:custGeom>
              <a:avLst/>
              <a:gdLst/>
              <a:ahLst/>
              <a:cxnLst/>
              <a:rect r="r" b="b" t="t" l="l"/>
              <a:pathLst>
                <a:path h="366014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6785D9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6334804" y="5655412"/>
            <a:ext cx="1125588" cy="754971"/>
            <a:chOff x="0" y="0"/>
            <a:chExt cx="1500784" cy="1006627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500789" cy="1006626"/>
            </a:xfrm>
            <a:custGeom>
              <a:avLst/>
              <a:gdLst/>
              <a:ahLst/>
              <a:cxnLst/>
              <a:rect r="r" b="b" t="t" l="l"/>
              <a:pathLst>
                <a:path h="1006626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057" t="0" r="-36057" b="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9525"/>
              <a:ext cx="1500784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  <a:p>
              <a:pPr algn="ctr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engines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6266166" y="6616284"/>
            <a:ext cx="1235402" cy="301990"/>
            <a:chOff x="0" y="0"/>
            <a:chExt cx="1647203" cy="40265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647207" cy="402651"/>
            </a:xfrm>
            <a:custGeom>
              <a:avLst/>
              <a:gdLst/>
              <a:ahLst/>
              <a:cxnLst/>
              <a:rect r="r" b="b" t="t" l="l"/>
              <a:pathLst>
                <a:path h="40265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10" r="0" b="-29711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164720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3"/>
                </a:lnSpc>
              </a:pPr>
              <a:r>
                <a:rPr lang="en-US" sz="111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TRAIN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741352" y="7433215"/>
            <a:ext cx="6808070" cy="1180119"/>
            <a:chOff x="0" y="0"/>
            <a:chExt cx="9077427" cy="157349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077452" cy="1573530"/>
            </a:xfrm>
            <a:custGeom>
              <a:avLst/>
              <a:gdLst/>
              <a:ahLst/>
              <a:cxnLst/>
              <a:rect r="r" b="b" t="t" l="l"/>
              <a:pathLst>
                <a:path h="1573530" w="9077452">
                  <a:moveTo>
                    <a:pt x="0" y="0"/>
                  </a:moveTo>
                  <a:lnTo>
                    <a:pt x="9077452" y="0"/>
                  </a:lnTo>
                  <a:lnTo>
                    <a:pt x="9077452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101A42"/>
            </a:solidFill>
            <a:ln w="13345" cap="sq">
              <a:solidFill>
                <a:srgbClr val="4C5BE0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118647" y="7659510"/>
            <a:ext cx="6039755" cy="384353"/>
            <a:chOff x="0" y="0"/>
            <a:chExt cx="8053006" cy="51247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8053012" cy="512464"/>
            </a:xfrm>
            <a:custGeom>
              <a:avLst/>
              <a:gdLst/>
              <a:ahLst/>
              <a:cxnLst/>
              <a:rect r="r" b="b" t="t" l="l"/>
              <a:pathLst>
                <a:path h="512464" w="8053012">
                  <a:moveTo>
                    <a:pt x="0" y="0"/>
                  </a:moveTo>
                  <a:lnTo>
                    <a:pt x="8053012" y="0"/>
                  </a:lnTo>
                  <a:lnTo>
                    <a:pt x="805301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6192" r="0" b="-256193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8053006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20 held out  +  80 train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1118647" y="8139951"/>
            <a:ext cx="6039755" cy="247079"/>
            <a:chOff x="0" y="0"/>
            <a:chExt cx="8053006" cy="32943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8053012" cy="329441"/>
            </a:xfrm>
            <a:custGeom>
              <a:avLst/>
              <a:gdLst/>
              <a:ahLst/>
              <a:cxnLst/>
              <a:rect r="r" b="b" t="t" l="l"/>
              <a:pathLst>
                <a:path h="329441" w="8053012">
                  <a:moveTo>
                    <a:pt x="0" y="0"/>
                  </a:moveTo>
                  <a:lnTo>
                    <a:pt x="8053012" y="0"/>
                  </a:lnTo>
                  <a:lnTo>
                    <a:pt x="80530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6301" r="0" b="-42630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8053006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Repeat until each engine is held out once.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05961" y="8469392"/>
            <a:ext cx="8304667" cy="851059"/>
            <a:chOff x="0" y="0"/>
            <a:chExt cx="11072889" cy="1134745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1072891" cy="1134743"/>
            </a:xfrm>
            <a:custGeom>
              <a:avLst/>
              <a:gdLst/>
              <a:ahLst/>
              <a:cxnLst/>
              <a:rect r="r" b="b" t="t" l="l"/>
              <a:pathLst>
                <a:path h="1134743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136" r="0" b="-140136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11072889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All metrics are in cycles. Final models train on all 100 engines; test once at the final observed cycle. Report CV mean ± std.</a:t>
              </a:r>
            </a:p>
          </p:txBody>
        </p:sp>
      </p:grpSp>
      <p:sp>
        <p:nvSpPr>
          <p:cNvPr name="AutoShape 170" id="170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1" id="171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06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8510" y="1139314"/>
            <a:ext cx="7275166" cy="329441"/>
            <a:chOff x="0" y="0"/>
            <a:chExt cx="9700222" cy="439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00218" cy="439255"/>
            </a:xfrm>
            <a:custGeom>
              <a:avLst/>
              <a:gdLst/>
              <a:ahLst/>
              <a:cxnLst/>
              <a:rect r="r" b="b" t="t" l="l"/>
              <a:pathLst>
                <a:path h="439255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700222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06 / BASELINES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78510" y="1619755"/>
            <a:ext cx="7275166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Three models.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Same test rules.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8510" y="3102235"/>
            <a:ext cx="7275166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Model settings are fixed, not tuned; naive defines the floor.</a:t>
            </a:r>
          </a:p>
        </p:txBody>
      </p:sp>
      <p:sp>
        <p:nvSpPr>
          <p:cNvPr name="AutoShape 18" id="18"/>
          <p:cNvSpPr/>
          <p:nvPr/>
        </p:nvSpPr>
        <p:spPr>
          <a:xfrm rot="4680">
            <a:off x="8339652" y="3632816"/>
            <a:ext cx="912694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414480" y="1949196"/>
            <a:ext cx="658882" cy="494167"/>
            <a:chOff x="0" y="0"/>
            <a:chExt cx="878510" cy="6588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8510" cy="658883"/>
            </a:xfrm>
            <a:custGeom>
              <a:avLst/>
              <a:gdLst/>
              <a:ahLst/>
              <a:cxnLst/>
              <a:rect r="r" b="b" t="t" l="l"/>
              <a:pathLst>
                <a:path h="658883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8" t="0" r="-4622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78510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43990" y="1894284"/>
            <a:ext cx="3225784" cy="466706"/>
            <a:chOff x="0" y="0"/>
            <a:chExt cx="4301046" cy="6222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01040" cy="622278"/>
            </a:xfrm>
            <a:custGeom>
              <a:avLst/>
              <a:gdLst/>
              <a:ahLst/>
              <a:cxnLst/>
              <a:rect r="r" b="b" t="t" l="l"/>
              <a:pathLst>
                <a:path h="622278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76" r="0" b="-846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301046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Naive baseline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75666" y="1894284"/>
            <a:ext cx="4145471" cy="1002049"/>
            <a:chOff x="0" y="0"/>
            <a:chExt cx="5527294" cy="13360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7294" cy="1336068"/>
            </a:xfrm>
            <a:custGeom>
              <a:avLst/>
              <a:gdLst/>
              <a:ahLst/>
              <a:cxnLst/>
              <a:rect r="r" b="b" t="t" l="l"/>
              <a:pathLst>
                <a:path h="1336068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1336068"/>
                  </a:lnTo>
                  <a:lnTo>
                    <a:pt x="0" y="133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09" r="0" b="-3060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527294" cy="1345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Predicts the training-fold mean RUL. Every useful model should beat this.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33620">
            <a:off x="9469736" y="2758507"/>
            <a:ext cx="1472155" cy="0"/>
          </a:xfrm>
          <a:prstGeom prst="line">
            <a:avLst/>
          </a:prstGeom>
          <a:ln cap="rnd" w="28575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0157774" y="2662980"/>
            <a:ext cx="219627" cy="219627"/>
            <a:chOff x="0" y="0"/>
            <a:chExt cx="292837" cy="2928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862" cy="292862"/>
            </a:xfrm>
            <a:custGeom>
              <a:avLst/>
              <a:gdLst/>
              <a:ahLst/>
              <a:cxnLst/>
              <a:rect r="r" b="b" t="t" l="l"/>
              <a:pathLst>
                <a:path h="292862" w="292862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cubicBezTo>
                    <a:pt x="227330" y="0"/>
                    <a:pt x="292862" y="65532"/>
                    <a:pt x="292862" y="146431"/>
                  </a:cubicBezTo>
                  <a:cubicBezTo>
                    <a:pt x="292862" y="227330"/>
                    <a:pt x="227330" y="292862"/>
                    <a:pt x="146431" y="292862"/>
                  </a:cubicBezTo>
                  <a:cubicBezTo>
                    <a:pt x="65532" y="292862"/>
                    <a:pt x="0" y="227330"/>
                    <a:pt x="0" y="146431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236666" y="3088510"/>
            <a:ext cx="1715843" cy="274539"/>
            <a:chOff x="0" y="0"/>
            <a:chExt cx="2287791" cy="3660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7787" cy="366046"/>
            </a:xfrm>
            <a:custGeom>
              <a:avLst/>
              <a:gdLst/>
              <a:ahLst/>
              <a:cxnLst/>
              <a:rect r="r" b="b" t="t" l="l"/>
              <a:pathLst>
                <a:path h="366046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0" r="0" b="-717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287791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BASELINE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4680">
            <a:off x="8339652" y="5911453"/>
            <a:ext cx="912694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8414480" y="4227833"/>
            <a:ext cx="658882" cy="494167"/>
            <a:chOff x="0" y="0"/>
            <a:chExt cx="878510" cy="6588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8510" cy="658883"/>
            </a:xfrm>
            <a:custGeom>
              <a:avLst/>
              <a:gdLst/>
              <a:ahLst/>
              <a:cxnLst/>
              <a:rect r="r" b="b" t="t" l="l"/>
              <a:pathLst>
                <a:path h="658883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8" t="0" r="-4622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78510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43990" y="4172922"/>
            <a:ext cx="3225784" cy="466706"/>
            <a:chOff x="0" y="0"/>
            <a:chExt cx="4301046" cy="6222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01040" cy="622278"/>
            </a:xfrm>
            <a:custGeom>
              <a:avLst/>
              <a:gdLst/>
              <a:ahLst/>
              <a:cxnLst/>
              <a:rect r="r" b="b" t="t" l="l"/>
              <a:pathLst>
                <a:path h="622278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76" r="0" b="-846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301046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Elastic Net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75666" y="4172922"/>
            <a:ext cx="4145471" cy="1002049"/>
            <a:chOff x="0" y="0"/>
            <a:chExt cx="5527294" cy="13360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27294" cy="1336068"/>
            </a:xfrm>
            <a:custGeom>
              <a:avLst/>
              <a:gdLst/>
              <a:ahLst/>
              <a:cxnLst/>
              <a:rect r="r" b="b" t="t" l="l"/>
              <a:pathLst>
                <a:path h="1336068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1336068"/>
                  </a:lnTo>
                  <a:lnTo>
                    <a:pt x="0" y="133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09" r="0" b="-3060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527294" cy="1345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Linear reference with L1 + L2 penalty. Scaling stays inside the pipeline. α = 1.0; l1_ratio = 0.5.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-1296900">
            <a:off x="9467974" y="5137995"/>
            <a:ext cx="391268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-1721160">
            <a:off x="9785728" y="5000730"/>
            <a:ext cx="414652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-948180">
            <a:off x="10133476" y="4884049"/>
            <a:ext cx="378047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rot="-1573320">
            <a:off x="10443686" y="4753651"/>
            <a:ext cx="512597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5236666" y="5367147"/>
            <a:ext cx="1715843" cy="274539"/>
            <a:chOff x="0" y="0"/>
            <a:chExt cx="2287791" cy="3660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7787" cy="366046"/>
            </a:xfrm>
            <a:custGeom>
              <a:avLst/>
              <a:gdLst/>
              <a:ahLst/>
              <a:cxnLst/>
              <a:rect r="r" b="b" t="t" l="l"/>
              <a:pathLst>
                <a:path h="366046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0" r="0" b="-7178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287791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LINEAR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4680">
            <a:off x="8339652" y="8190090"/>
            <a:ext cx="912694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8414480" y="6506470"/>
            <a:ext cx="658882" cy="494167"/>
            <a:chOff x="0" y="0"/>
            <a:chExt cx="878510" cy="6588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10" cy="658883"/>
            </a:xfrm>
            <a:custGeom>
              <a:avLst/>
              <a:gdLst/>
              <a:ahLst/>
              <a:cxnLst/>
              <a:rect r="r" b="b" t="t" l="l"/>
              <a:pathLst>
                <a:path h="658883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8" t="0" r="-4622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10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43990" y="6451559"/>
            <a:ext cx="3225784" cy="466706"/>
            <a:chOff x="0" y="0"/>
            <a:chExt cx="4301046" cy="6222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01040" cy="622278"/>
            </a:xfrm>
            <a:custGeom>
              <a:avLst/>
              <a:gdLst/>
              <a:ahLst/>
              <a:cxnLst/>
              <a:rect r="r" b="b" t="t" l="l"/>
              <a:pathLst>
                <a:path h="622278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76" r="0" b="-8467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301046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Random Forest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875666" y="6451559"/>
            <a:ext cx="4145471" cy="1002049"/>
            <a:chOff x="0" y="0"/>
            <a:chExt cx="5527294" cy="133606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527294" cy="1336068"/>
            </a:xfrm>
            <a:custGeom>
              <a:avLst/>
              <a:gdLst/>
              <a:ahLst/>
              <a:cxnLst/>
              <a:rect r="r" b="b" t="t" l="l"/>
              <a:pathLst>
                <a:path h="1336068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1336068"/>
                  </a:lnTo>
                  <a:lnTo>
                    <a:pt x="0" y="13360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09" r="0" b="-3060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527294" cy="1345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200 trees; min_samples_leaf = 5. Bootstrap aggregation captures non-linear effects.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6809280">
            <a:off x="9588637" y="7085095"/>
            <a:ext cx="397031" cy="0"/>
          </a:xfrm>
          <a:prstGeom prst="line">
            <a:avLst/>
          </a:prstGeom>
          <a:ln cap="rnd" w="9525">
            <a:solidFill>
              <a:srgbClr val="9DA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rot="3778860">
            <a:off x="9733769" y="7085095"/>
            <a:ext cx="408756" cy="0"/>
          </a:xfrm>
          <a:prstGeom prst="line">
            <a:avLst/>
          </a:prstGeom>
          <a:ln cap="rnd" w="9525">
            <a:solidFill>
              <a:srgbClr val="9DA5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9759706" y="6808451"/>
            <a:ext cx="192176" cy="192176"/>
            <a:chOff x="0" y="0"/>
            <a:chExt cx="256235" cy="25623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9DA5FF"/>
            </a:solidFill>
          </p:spPr>
        </p:sp>
      </p:grpSp>
      <p:sp>
        <p:nvSpPr>
          <p:cNvPr name="AutoShape 65" id="65"/>
          <p:cNvSpPr/>
          <p:nvPr/>
        </p:nvSpPr>
        <p:spPr>
          <a:xfrm rot="6809280">
            <a:off x="10096529" y="7085095"/>
            <a:ext cx="397031" cy="0"/>
          </a:xfrm>
          <a:prstGeom prst="line">
            <a:avLst/>
          </a:prstGeom>
          <a:ln cap="rnd" w="9525">
            <a:solidFill>
              <a:srgbClr val="9DA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3778860">
            <a:off x="10241661" y="7085095"/>
            <a:ext cx="408756" cy="0"/>
          </a:xfrm>
          <a:prstGeom prst="line">
            <a:avLst/>
          </a:prstGeom>
          <a:ln cap="rnd" w="9525">
            <a:solidFill>
              <a:srgbClr val="9DA5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0267588" y="6808451"/>
            <a:ext cx="192176" cy="192176"/>
            <a:chOff x="0" y="0"/>
            <a:chExt cx="256235" cy="25623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9DA5FF"/>
            </a:solidFill>
          </p:spPr>
        </p:sp>
      </p:grpSp>
      <p:sp>
        <p:nvSpPr>
          <p:cNvPr name="AutoShape 69" id="69"/>
          <p:cNvSpPr/>
          <p:nvPr/>
        </p:nvSpPr>
        <p:spPr>
          <a:xfrm rot="6809280">
            <a:off x="10604411" y="7085095"/>
            <a:ext cx="397031" cy="0"/>
          </a:xfrm>
          <a:prstGeom prst="line">
            <a:avLst/>
          </a:prstGeom>
          <a:ln cap="rnd" w="9525">
            <a:solidFill>
              <a:srgbClr val="9DA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3778860">
            <a:off x="10749553" y="7085095"/>
            <a:ext cx="408756" cy="0"/>
          </a:xfrm>
          <a:prstGeom prst="line">
            <a:avLst/>
          </a:prstGeom>
          <a:ln cap="rnd" w="9525">
            <a:solidFill>
              <a:srgbClr val="9DA5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0775480" y="6808451"/>
            <a:ext cx="192176" cy="192176"/>
            <a:chOff x="0" y="0"/>
            <a:chExt cx="256235" cy="25623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cubicBezTo>
                    <a:pt x="198882" y="0"/>
                    <a:pt x="256286" y="57404"/>
                    <a:pt x="256286" y="128143"/>
                  </a:cubicBezTo>
                  <a:cubicBezTo>
                    <a:pt x="256286" y="198882"/>
                    <a:pt x="198882" y="256286"/>
                    <a:pt x="128143" y="256286"/>
                  </a:cubicBezTo>
                  <a:cubicBezTo>
                    <a:pt x="57404" y="256286"/>
                    <a:pt x="0" y="198882"/>
                    <a:pt x="0" y="128143"/>
                  </a:cubicBezTo>
                  <a:close/>
                </a:path>
              </a:pathLst>
            </a:custGeom>
            <a:solidFill>
              <a:srgbClr val="9DA5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5236666" y="7645784"/>
            <a:ext cx="1715843" cy="274539"/>
            <a:chOff x="0" y="0"/>
            <a:chExt cx="2287791" cy="3660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7787" cy="366046"/>
            </a:xfrm>
            <a:custGeom>
              <a:avLst/>
              <a:gdLst/>
              <a:ahLst/>
              <a:cxnLst/>
              <a:rect r="r" b="b" t="t" l="l"/>
              <a:pathLst>
                <a:path h="366046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0" r="0" b="-7178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287791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NONLINEAR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07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9019" y="0"/>
            <a:ext cx="5192820" cy="10295039"/>
            <a:chOff x="0" y="0"/>
            <a:chExt cx="6923761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692378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6923786">
                  <a:moveTo>
                    <a:pt x="0" y="0"/>
                  </a:moveTo>
                  <a:lnTo>
                    <a:pt x="6923786" y="0"/>
                  </a:lnTo>
                  <a:lnTo>
                    <a:pt x="692378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226" t="0" r="-1262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7412431" cy="329441"/>
            <a:chOff x="0" y="0"/>
            <a:chExt cx="9883242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83241" cy="439255"/>
            </a:xfrm>
            <a:custGeom>
              <a:avLst/>
              <a:gdLst/>
              <a:ahLst/>
              <a:cxnLst/>
              <a:rect r="r" b="b" t="t" l="l"/>
              <a:pathLst>
                <a:path h="439255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883242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07 / RESULTS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7412431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Cross-validation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&amp; test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741243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1"/>
              </a:lnSpc>
              <a:spcBef>
                <a:spcPct val="0"/>
              </a:spcBef>
            </a:pPr>
            <a:r>
              <a:rPr lang="en-US" sz="1576" strike="noStrike" u="none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Five-fold GroupKFold CV is shown as mean ± SD; final test scores use 100 held-out engines.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5961" y="3870931"/>
            <a:ext cx="7000627" cy="658883"/>
            <a:chOff x="0" y="0"/>
            <a:chExt cx="9334170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34172" cy="878511"/>
            </a:xfrm>
            <a:custGeom>
              <a:avLst/>
              <a:gdLst/>
              <a:ahLst/>
              <a:cxnLst/>
              <a:rect r="r" b="b" t="t" l="l"/>
              <a:pathLst>
                <a:path h="878511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334170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801"/>
                </a:lnSpc>
                <a:spcBef>
                  <a:spcPct val="0"/>
                </a:spcBef>
              </a:pPr>
              <a:r>
                <a:rPr lang="en-US" sz="1501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All error metrics are in cycles. CV and test results are reported separately.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421" y="4776902"/>
            <a:ext cx="2127647" cy="315716"/>
            <a:chOff x="0" y="0"/>
            <a:chExt cx="2836862" cy="4209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36856" cy="420953"/>
            </a:xfrm>
            <a:custGeom>
              <a:avLst/>
              <a:gdLst/>
              <a:ahLst/>
              <a:cxnLst/>
              <a:rect r="r" b="b" t="t" l="l"/>
              <a:pathLst>
                <a:path h="420953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836862" cy="430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MODEL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25784" y="4776902"/>
            <a:ext cx="2443353" cy="315716"/>
            <a:chOff x="0" y="0"/>
            <a:chExt cx="3257804" cy="4209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57809" cy="420953"/>
            </a:xfrm>
            <a:custGeom>
              <a:avLst/>
              <a:gdLst/>
              <a:ahLst/>
              <a:cxnLst/>
              <a:rect r="r" b="b" t="t" l="l"/>
              <a:pathLst>
                <a:path h="420953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796" r="0" b="-1007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257804" cy="430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61314" y="4776902"/>
            <a:ext cx="1578569" cy="315716"/>
            <a:chOff x="0" y="0"/>
            <a:chExt cx="2104758" cy="4209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04764" cy="420953"/>
            </a:xfrm>
            <a:custGeom>
              <a:avLst/>
              <a:gdLst/>
              <a:ahLst/>
              <a:cxnLst/>
              <a:rect r="r" b="b" t="t" l="l"/>
              <a:pathLst>
                <a:path h="420953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104758" cy="430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RMSE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59510" y="4776902"/>
            <a:ext cx="1578569" cy="315716"/>
            <a:chOff x="0" y="0"/>
            <a:chExt cx="2104758" cy="4209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04764" cy="420953"/>
            </a:xfrm>
            <a:custGeom>
              <a:avLst/>
              <a:gdLst/>
              <a:ahLst/>
              <a:cxnLst/>
              <a:rect r="r" b="b" t="t" l="l"/>
              <a:pathLst>
                <a:path h="420953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104758" cy="430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MAE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16529" y="4776902"/>
            <a:ext cx="1578569" cy="315716"/>
            <a:chOff x="0" y="0"/>
            <a:chExt cx="2104758" cy="4209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4764" cy="420953"/>
            </a:xfrm>
            <a:custGeom>
              <a:avLst/>
              <a:gdLst/>
              <a:ahLst/>
              <a:cxnLst/>
              <a:rect r="r" b="b" t="t" l="l"/>
              <a:pathLst>
                <a:path h="420953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104758" cy="430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MAE EARLY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87284" y="4776902"/>
            <a:ext cx="1578569" cy="315716"/>
            <a:chOff x="0" y="0"/>
            <a:chExt cx="2104758" cy="4209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4764" cy="420953"/>
            </a:xfrm>
            <a:custGeom>
              <a:avLst/>
              <a:gdLst/>
              <a:ahLst/>
              <a:cxnLst/>
              <a:rect r="r" b="b" t="t" l="l"/>
              <a:pathLst>
                <a:path h="420953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04758" cy="430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MAE LATE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5340">
            <a:off x="896903" y="5252571"/>
            <a:ext cx="11685842" cy="0"/>
          </a:xfrm>
          <a:prstGeom prst="line">
            <a:avLst/>
          </a:prstGeom>
          <a:ln cap="rnd" w="9525">
            <a:solidFill>
              <a:srgbClr val="5E6B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33421" y="5449510"/>
            <a:ext cx="2127647" cy="343167"/>
            <a:chOff x="0" y="0"/>
            <a:chExt cx="2836862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36856" cy="457557"/>
            </a:xfrm>
            <a:custGeom>
              <a:avLst/>
              <a:gdLst/>
              <a:ahLst/>
              <a:cxnLst/>
              <a:rect r="r" b="b" t="t" l="l"/>
              <a:pathLst>
                <a:path h="457557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83686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Naive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225784" y="5449510"/>
            <a:ext cx="2443353" cy="343167"/>
            <a:chOff x="0" y="0"/>
            <a:chExt cx="3257804" cy="4575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57809" cy="457557"/>
            </a:xfrm>
            <a:custGeom>
              <a:avLst/>
              <a:gdLst/>
              <a:ahLst/>
              <a:cxnLst/>
              <a:rect r="r" b="b" t="t" l="l"/>
              <a:pathLst>
                <a:path h="457557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733" r="0" b="-8873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5780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(5 folds)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861314" y="5449510"/>
            <a:ext cx="1578569" cy="343168"/>
            <a:chOff x="0" y="0"/>
            <a:chExt cx="2104758" cy="4575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68.87 ± 1.32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659510" y="5449510"/>
            <a:ext cx="1578569" cy="343168"/>
            <a:chOff x="0" y="0"/>
            <a:chExt cx="2104758" cy="45755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56.86 ± 0.51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16529" y="5449510"/>
            <a:ext cx="1578569" cy="343168"/>
            <a:chOff x="0" y="0"/>
            <a:chExt cx="2104758" cy="4575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48.40 ± 0.71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187284" y="5449510"/>
            <a:ext cx="1578569" cy="343168"/>
            <a:chOff x="0" y="0"/>
            <a:chExt cx="2104758" cy="45755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83.31 ± 0.12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2820">
            <a:off x="901198" y="5884002"/>
            <a:ext cx="11677250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933421" y="6026029"/>
            <a:ext cx="2127647" cy="343167"/>
            <a:chOff x="0" y="0"/>
            <a:chExt cx="2836862" cy="4575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36856" cy="457557"/>
            </a:xfrm>
            <a:custGeom>
              <a:avLst/>
              <a:gdLst/>
              <a:ahLst/>
              <a:cxnLst/>
              <a:rect r="r" b="b" t="t" l="l"/>
              <a:pathLst>
                <a:path h="457557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83686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Naive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225784" y="6026029"/>
            <a:ext cx="2443353" cy="343167"/>
            <a:chOff x="0" y="0"/>
            <a:chExt cx="3257804" cy="4575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57809" cy="457557"/>
            </a:xfrm>
            <a:custGeom>
              <a:avLst/>
              <a:gdLst/>
              <a:ahLst/>
              <a:cxnLst/>
              <a:rect r="r" b="b" t="t" l="l"/>
              <a:pathLst>
                <a:path h="457557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733" r="0" b="-8873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25780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Test (100)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861314" y="6026029"/>
            <a:ext cx="1578569" cy="343168"/>
            <a:chOff x="0" y="0"/>
            <a:chExt cx="2104758" cy="45755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52.62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659510" y="6026029"/>
            <a:ext cx="1578569" cy="343168"/>
            <a:chOff x="0" y="0"/>
            <a:chExt cx="2104758" cy="45755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40.88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16529" y="6026029"/>
            <a:ext cx="1578569" cy="343168"/>
            <a:chOff x="0" y="0"/>
            <a:chExt cx="2104758" cy="45755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21.44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187284" y="6026029"/>
            <a:ext cx="1578569" cy="343168"/>
            <a:chOff x="0" y="0"/>
            <a:chExt cx="2104758" cy="45755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86.24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2820">
            <a:off x="901198" y="6460522"/>
            <a:ext cx="11677250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933421" y="6602559"/>
            <a:ext cx="2127647" cy="343167"/>
            <a:chOff x="0" y="0"/>
            <a:chExt cx="2836862" cy="4575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836856" cy="457557"/>
            </a:xfrm>
            <a:custGeom>
              <a:avLst/>
              <a:gdLst/>
              <a:ahLst/>
              <a:cxnLst/>
              <a:rect r="r" b="b" t="t" l="l"/>
              <a:pathLst>
                <a:path h="457557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283686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Elastic Net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225784" y="6602559"/>
            <a:ext cx="2443353" cy="343167"/>
            <a:chOff x="0" y="0"/>
            <a:chExt cx="3257804" cy="4575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57809" cy="457557"/>
            </a:xfrm>
            <a:custGeom>
              <a:avLst/>
              <a:gdLst/>
              <a:ahLst/>
              <a:cxnLst/>
              <a:rect r="r" b="b" t="t" l="l"/>
              <a:pathLst>
                <a:path h="457557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733" r="0" b="-8873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325780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(5 folds)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861314" y="6602559"/>
            <a:ext cx="1578569" cy="343168"/>
            <a:chOff x="0" y="0"/>
            <a:chExt cx="2104758" cy="45755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40.04 ± 2.98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659510" y="6602559"/>
            <a:ext cx="1578569" cy="343168"/>
            <a:chOff x="0" y="0"/>
            <a:chExt cx="2104758" cy="45755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30.63 ± 1.56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16529" y="6602559"/>
            <a:ext cx="1578569" cy="343168"/>
            <a:chOff x="0" y="0"/>
            <a:chExt cx="2104758" cy="45755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32.96 ± 2.19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187284" y="6602559"/>
            <a:ext cx="1578569" cy="343168"/>
            <a:chOff x="0" y="0"/>
            <a:chExt cx="2104758" cy="45755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23.35 ± 1.21</a:t>
              </a:r>
            </a:p>
          </p:txBody>
        </p:sp>
      </p:grpSp>
      <p:sp>
        <p:nvSpPr>
          <p:cNvPr name="AutoShape 98" id="98"/>
          <p:cNvSpPr/>
          <p:nvPr/>
        </p:nvSpPr>
        <p:spPr>
          <a:xfrm rot="2820">
            <a:off x="901198" y="7037051"/>
            <a:ext cx="11677250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933421" y="7179078"/>
            <a:ext cx="2127647" cy="343167"/>
            <a:chOff x="0" y="0"/>
            <a:chExt cx="2836862" cy="45755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836856" cy="457557"/>
            </a:xfrm>
            <a:custGeom>
              <a:avLst/>
              <a:gdLst/>
              <a:ahLst/>
              <a:cxnLst/>
              <a:rect r="r" b="b" t="t" l="l"/>
              <a:pathLst>
                <a:path h="457557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83686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Elastic Net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225784" y="7179078"/>
            <a:ext cx="2443353" cy="343167"/>
            <a:chOff x="0" y="0"/>
            <a:chExt cx="3257804" cy="4575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257809" cy="457557"/>
            </a:xfrm>
            <a:custGeom>
              <a:avLst/>
              <a:gdLst/>
              <a:ahLst/>
              <a:cxnLst/>
              <a:rect r="r" b="b" t="t" l="l"/>
              <a:pathLst>
                <a:path h="457557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733" r="0" b="-8873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325780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Test (100)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861314" y="7179078"/>
            <a:ext cx="1578569" cy="343168"/>
            <a:chOff x="0" y="0"/>
            <a:chExt cx="2104758" cy="45755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27.98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659510" y="7179078"/>
            <a:ext cx="1578569" cy="343168"/>
            <a:chOff x="0" y="0"/>
            <a:chExt cx="2104758" cy="45755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23.68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416529" y="7179078"/>
            <a:ext cx="1578569" cy="343168"/>
            <a:chOff x="0" y="0"/>
            <a:chExt cx="2104758" cy="45755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25.02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1187284" y="7179078"/>
            <a:ext cx="1578569" cy="343168"/>
            <a:chOff x="0" y="0"/>
            <a:chExt cx="2104758" cy="457557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20.55</a:t>
              </a:r>
            </a:p>
          </p:txBody>
        </p:sp>
      </p:grpSp>
      <p:sp>
        <p:nvSpPr>
          <p:cNvPr name="AutoShape 117" id="117"/>
          <p:cNvSpPr/>
          <p:nvPr/>
        </p:nvSpPr>
        <p:spPr>
          <a:xfrm rot="2820">
            <a:off x="901198" y="7613571"/>
            <a:ext cx="11677250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8" id="118"/>
          <p:cNvGrpSpPr/>
          <p:nvPr/>
        </p:nvGrpSpPr>
        <p:grpSpPr>
          <a:xfrm rot="0">
            <a:off x="933421" y="7755598"/>
            <a:ext cx="2127647" cy="343167"/>
            <a:chOff x="0" y="0"/>
            <a:chExt cx="2836862" cy="4575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836856" cy="457557"/>
            </a:xfrm>
            <a:custGeom>
              <a:avLst/>
              <a:gdLst/>
              <a:ahLst/>
              <a:cxnLst/>
              <a:rect r="r" b="b" t="t" l="l"/>
              <a:pathLst>
                <a:path h="457557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283686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Random Forest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3225784" y="7755598"/>
            <a:ext cx="2443353" cy="343167"/>
            <a:chOff x="0" y="0"/>
            <a:chExt cx="3257804" cy="4575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257809" cy="457557"/>
            </a:xfrm>
            <a:custGeom>
              <a:avLst/>
              <a:gdLst/>
              <a:ahLst/>
              <a:cxnLst/>
              <a:rect r="r" b="b" t="t" l="l"/>
              <a:pathLst>
                <a:path h="457557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733" r="0" b="-8873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325780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(5 folds)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5861314" y="7755598"/>
            <a:ext cx="1578569" cy="343168"/>
            <a:chOff x="0" y="0"/>
            <a:chExt cx="2104758" cy="45755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34.78 ± 1.97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659510" y="7755598"/>
            <a:ext cx="1578569" cy="343168"/>
            <a:chOff x="0" y="0"/>
            <a:chExt cx="2104758" cy="45755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22.79 ± 0.91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416529" y="7755598"/>
            <a:ext cx="1578569" cy="343168"/>
            <a:chOff x="0" y="0"/>
            <a:chExt cx="2104758" cy="457557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28.47 ± 1.11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1187284" y="7755598"/>
            <a:ext cx="1578569" cy="343168"/>
            <a:chOff x="0" y="0"/>
            <a:chExt cx="2104758" cy="45755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5.04 ± 0.34</a:t>
              </a:r>
            </a:p>
          </p:txBody>
        </p:sp>
      </p:grpSp>
      <p:sp>
        <p:nvSpPr>
          <p:cNvPr name="AutoShape 136" id="136"/>
          <p:cNvSpPr/>
          <p:nvPr/>
        </p:nvSpPr>
        <p:spPr>
          <a:xfrm rot="2820">
            <a:off x="901198" y="8190090"/>
            <a:ext cx="11677250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7" id="137"/>
          <p:cNvGrpSpPr/>
          <p:nvPr/>
        </p:nvGrpSpPr>
        <p:grpSpPr>
          <a:xfrm rot="0">
            <a:off x="933421" y="8332118"/>
            <a:ext cx="2127647" cy="343167"/>
            <a:chOff x="0" y="0"/>
            <a:chExt cx="2836862" cy="4575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836856" cy="457557"/>
            </a:xfrm>
            <a:custGeom>
              <a:avLst/>
              <a:gdLst/>
              <a:ahLst/>
              <a:cxnLst/>
              <a:rect r="r" b="b" t="t" l="l"/>
              <a:pathLst>
                <a:path h="457557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2836862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Random Forest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225784" y="8332118"/>
            <a:ext cx="2443353" cy="343167"/>
            <a:chOff x="0" y="0"/>
            <a:chExt cx="3257804" cy="45755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257809" cy="457557"/>
            </a:xfrm>
            <a:custGeom>
              <a:avLst/>
              <a:gdLst/>
              <a:ahLst/>
              <a:cxnLst/>
              <a:rect r="r" b="b" t="t" l="l"/>
              <a:pathLst>
                <a:path h="457557" w="3257809">
                  <a:moveTo>
                    <a:pt x="0" y="0"/>
                  </a:moveTo>
                  <a:lnTo>
                    <a:pt x="3257809" y="0"/>
                  </a:lnTo>
                  <a:lnTo>
                    <a:pt x="325780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733" r="0" b="-88733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0"/>
              <a:ext cx="325780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Test (100)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5861314" y="8332118"/>
            <a:ext cx="1578569" cy="343168"/>
            <a:chOff x="0" y="0"/>
            <a:chExt cx="2104758" cy="45755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23.34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7659510" y="8332118"/>
            <a:ext cx="1578569" cy="343168"/>
            <a:chOff x="0" y="0"/>
            <a:chExt cx="2104758" cy="45755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15.58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416529" y="8332118"/>
            <a:ext cx="1578569" cy="343168"/>
            <a:chOff x="0" y="0"/>
            <a:chExt cx="2104758" cy="45755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20.54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187284" y="8332118"/>
            <a:ext cx="1578569" cy="343168"/>
            <a:chOff x="0" y="0"/>
            <a:chExt cx="2104758" cy="457557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104764" cy="457559"/>
            </a:xfrm>
            <a:custGeom>
              <a:avLst/>
              <a:gdLst/>
              <a:ahLst/>
              <a:cxnLst/>
              <a:rect r="r" b="b" t="t" l="l"/>
              <a:pathLst>
                <a:path h="457559" w="2104764">
                  <a:moveTo>
                    <a:pt x="0" y="0"/>
                  </a:moveTo>
                  <a:lnTo>
                    <a:pt x="2104764" y="0"/>
                  </a:lnTo>
                  <a:lnTo>
                    <a:pt x="210476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30" r="0" b="-3963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210475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95"/>
                </a:lnSpc>
                <a:spcBef>
                  <a:spcPct val="0"/>
                </a:spcBef>
              </a:pPr>
              <a:r>
                <a:rPr lang="en-US" sz="124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4.02</a:t>
              </a:r>
            </a:p>
          </p:txBody>
        </p:sp>
      </p:grpSp>
      <p:sp>
        <p:nvSpPr>
          <p:cNvPr name="AutoShape 155" id="155"/>
          <p:cNvSpPr/>
          <p:nvPr/>
        </p:nvSpPr>
        <p:spPr>
          <a:xfrm rot="2820">
            <a:off x="901198" y="8766610"/>
            <a:ext cx="11677250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6" id="156"/>
          <p:cNvGrpSpPr/>
          <p:nvPr/>
        </p:nvGrpSpPr>
        <p:grpSpPr>
          <a:xfrm rot="0">
            <a:off x="13548274" y="1578569"/>
            <a:ext cx="3980755" cy="274539"/>
            <a:chOff x="0" y="0"/>
            <a:chExt cx="5307673" cy="366052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307667" cy="366046"/>
            </a:xfrm>
            <a:custGeom>
              <a:avLst/>
              <a:gdLst/>
              <a:ahLst/>
              <a:cxnLst/>
              <a:rect r="r" b="b" t="t" l="l"/>
              <a:pathLst>
                <a:path h="366046" w="5307667">
                  <a:moveTo>
                    <a:pt x="0" y="0"/>
                  </a:moveTo>
                  <a:lnTo>
                    <a:pt x="5307667" y="0"/>
                  </a:lnTo>
                  <a:lnTo>
                    <a:pt x="530766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532" r="0" b="-232534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530767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REPORTING STANDARD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3548274" y="2086461"/>
            <a:ext cx="3912118" cy="1070686"/>
            <a:chOff x="0" y="0"/>
            <a:chExt cx="5216157" cy="142758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216155" cy="1427579"/>
            </a:xfrm>
            <a:custGeom>
              <a:avLst/>
              <a:gdLst/>
              <a:ahLst/>
              <a:cxnLst/>
              <a:rect r="r" b="b" t="t" l="l"/>
              <a:pathLst>
                <a:path h="1427579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9525"/>
              <a:ext cx="5216157" cy="14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CV mean</a:t>
              </a:r>
            </a:p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4F6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± std</a:t>
              </a:r>
            </a:p>
          </p:txBody>
        </p:sp>
      </p:grpSp>
      <p:sp>
        <p:nvSpPr>
          <p:cNvPr name="AutoShape 162" id="162"/>
          <p:cNvSpPr/>
          <p:nvPr/>
        </p:nvSpPr>
        <p:spPr>
          <a:xfrm rot="11580">
            <a:off x="13541597" y="3495551"/>
            <a:ext cx="3966667" cy="0"/>
          </a:xfrm>
          <a:prstGeom prst="line">
            <a:avLst/>
          </a:prstGeom>
          <a:ln cap="rnd" w="9525">
            <a:solidFill>
              <a:srgbClr val="6D7B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3" id="163"/>
          <p:cNvGrpSpPr/>
          <p:nvPr/>
        </p:nvGrpSpPr>
        <p:grpSpPr>
          <a:xfrm rot="0">
            <a:off x="13548274" y="3870931"/>
            <a:ext cx="3431677" cy="343167"/>
            <a:chOff x="0" y="0"/>
            <a:chExt cx="4575569" cy="45755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575575" cy="457557"/>
            </a:xfrm>
            <a:custGeom>
              <a:avLst/>
              <a:gdLst/>
              <a:ahLst/>
              <a:cxnLst/>
              <a:rect r="r" b="b" t="t" l="l"/>
              <a:pathLst>
                <a:path h="457557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49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457556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Score in cycles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548274" y="4392549"/>
            <a:ext cx="3706216" cy="1372676"/>
            <a:chOff x="0" y="0"/>
            <a:chExt cx="4941621" cy="1830235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4941620" cy="1830230"/>
            </a:xfrm>
            <a:custGeom>
              <a:avLst/>
              <a:gdLst/>
              <a:ahLst/>
              <a:cxnLst/>
              <a:rect r="r" b="b" t="t" l="l"/>
              <a:pathLst>
                <a:path h="1830230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0"/>
              <a:ext cx="4941621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RMSE  •  MAE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Early MAE: RUL ≥ 50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Late MAE: RUL &lt; 50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3541607" y="6376254"/>
            <a:ext cx="3994099" cy="1523286"/>
            <a:chOff x="0" y="0"/>
            <a:chExt cx="5325466" cy="203104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5325491" cy="2030984"/>
            </a:xfrm>
            <a:custGeom>
              <a:avLst/>
              <a:gdLst/>
              <a:ahLst/>
              <a:cxnLst/>
              <a:rect r="r" b="b" t="t" l="l"/>
              <a:pathLst>
                <a:path h="2030984" w="5325491">
                  <a:moveTo>
                    <a:pt x="0" y="0"/>
                  </a:moveTo>
                  <a:lnTo>
                    <a:pt x="5325491" y="0"/>
                  </a:lnTo>
                  <a:lnTo>
                    <a:pt x="5325491" y="2030984"/>
                  </a:lnTo>
                  <a:lnTo>
                    <a:pt x="0" y="2030984"/>
                  </a:lnTo>
                  <a:close/>
                </a:path>
              </a:pathLst>
            </a:custGeom>
            <a:solidFill>
              <a:srgbClr val="101A42"/>
            </a:solidFill>
            <a:ln w="13345" cap="sq">
              <a:solidFill>
                <a:srgbClr val="4C5BE0"/>
              </a:solidFill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6539" y="6616284"/>
            <a:ext cx="3431677" cy="315716"/>
            <a:chOff x="0" y="0"/>
            <a:chExt cx="4575569" cy="42095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4575575" cy="420953"/>
            </a:xfrm>
            <a:custGeom>
              <a:avLst/>
              <a:gdLst/>
              <a:ahLst/>
              <a:cxnLst/>
              <a:rect r="r" b="b" t="t" l="l"/>
              <a:pathLst>
                <a:path h="420953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793" r="0" b="-161793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0"/>
              <a:ext cx="4575569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CV + TEST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3836539" y="7055539"/>
            <a:ext cx="3321863" cy="686333"/>
            <a:chOff x="0" y="0"/>
            <a:chExt cx="4429150" cy="915111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4429156" cy="915115"/>
            </a:xfrm>
            <a:custGeom>
              <a:avLst/>
              <a:gdLst/>
              <a:ahLst/>
              <a:cxnLst/>
              <a:rect r="r" b="b" t="t" l="l"/>
              <a:pathLst>
                <a:path h="915115" w="4429156">
                  <a:moveTo>
                    <a:pt x="0" y="0"/>
                  </a:moveTo>
                  <a:lnTo>
                    <a:pt x="4429156" y="0"/>
                  </a:lnTo>
                  <a:lnTo>
                    <a:pt x="442915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307" r="0" b="-44307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9525"/>
              <a:ext cx="442915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100 test engines</a:t>
              </a:r>
            </a:p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last observed cycle only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905961" y="8991000"/>
            <a:ext cx="10706843" cy="301988"/>
            <a:chOff x="0" y="0"/>
            <a:chExt cx="14275791" cy="402651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4275794" cy="402648"/>
            </a:xfrm>
            <a:custGeom>
              <a:avLst/>
              <a:gdLst/>
              <a:ahLst/>
              <a:cxnLst/>
              <a:rect r="r" b="b" t="t" l="l"/>
              <a:pathLst>
                <a:path h="402648" w="14275794">
                  <a:moveTo>
                    <a:pt x="0" y="0"/>
                  </a:moveTo>
                  <a:lnTo>
                    <a:pt x="14275794" y="0"/>
                  </a:lnTo>
                  <a:lnTo>
                    <a:pt x="14275794" y="402648"/>
                  </a:lnTo>
                  <a:lnTo>
                    <a:pt x="0" y="402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0837" r="0" b="-640838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0"/>
              <a:ext cx="14275791" cy="40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75"/>
                </a:lnSpc>
                <a:spcBef>
                  <a:spcPct val="0"/>
                </a:spcBef>
              </a:pPr>
              <a:r>
                <a:rPr lang="en-US" sz="1229" strike="noStrike" u="none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Source: notebook Sections 12, 15 and 16 • CV = mean ± SD</a:t>
              </a:r>
            </a:p>
          </p:txBody>
        </p:sp>
      </p:grpSp>
      <p:sp>
        <p:nvSpPr>
          <p:cNvPr name="AutoShape 180" id="180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1" id="181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08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95039" y="0"/>
            <a:ext cx="8006801" cy="10295039"/>
            <a:chOff x="0" y="0"/>
            <a:chExt cx="10675734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1067574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675747">
                  <a:moveTo>
                    <a:pt x="0" y="0"/>
                  </a:moveTo>
                  <a:lnTo>
                    <a:pt x="10675747" y="0"/>
                  </a:lnTo>
                  <a:lnTo>
                    <a:pt x="10675747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4292" t="0" r="-6429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7686961" cy="329441"/>
            <a:chOff x="0" y="0"/>
            <a:chExt cx="10249281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9288" cy="439255"/>
            </a:xfrm>
            <a:custGeom>
              <a:avLst/>
              <a:gdLst/>
              <a:ahLst/>
              <a:cxnLst/>
              <a:rect r="r" b="b" t="t" l="l"/>
              <a:pathLst>
                <a:path h="439255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249281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08 / ERROR ANALYSIS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7686961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Where does the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model fail?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768696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1"/>
              </a:lnSpc>
              <a:spcBef>
                <a:spcPct val="0"/>
              </a:spcBef>
            </a:pPr>
            <a:r>
              <a:rPr lang="en-US" sz="1576" strike="noStrike" u="none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Random Forest cross-validation: early-life errors are larger than late-life errors.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3421" y="4145471"/>
            <a:ext cx="2745343" cy="274539"/>
            <a:chOff x="0" y="0"/>
            <a:chExt cx="3660458" cy="3660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EARLY LIFE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12118" y="4131745"/>
            <a:ext cx="1784471" cy="329441"/>
            <a:chOff x="0" y="0"/>
            <a:chExt cx="2379294" cy="439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9299" cy="439255"/>
            </a:xfrm>
            <a:custGeom>
              <a:avLst/>
              <a:gdLst/>
              <a:ahLst/>
              <a:cxnLst/>
              <a:rect r="r" b="b" t="t" l="l"/>
              <a:pathLst>
                <a:path h="439255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379294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≥ 50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421" y="4557274"/>
            <a:ext cx="4804353" cy="658882"/>
            <a:chOff x="0" y="0"/>
            <a:chExt cx="6405804" cy="8785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5805" cy="878510"/>
            </a:xfrm>
            <a:custGeom>
              <a:avLst/>
              <a:gdLst/>
              <a:ahLst/>
              <a:cxnLst/>
              <a:rect r="r" b="b" t="t" l="l"/>
              <a:pathLst>
                <a:path h="878510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405804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7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Healthy-looking engines can have very different remaining lives.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47588" y="4172922"/>
            <a:ext cx="686333" cy="274539"/>
            <a:chOff x="0" y="0"/>
            <a:chExt cx="915111" cy="3660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5115" cy="366046"/>
            </a:xfrm>
            <a:custGeom>
              <a:avLst/>
              <a:gdLst/>
              <a:ahLst/>
              <a:cxnLst/>
              <a:rect r="r" b="b" t="t" l="l"/>
              <a:pathLst>
                <a:path h="366046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2" t="0" r="-1322" b="-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15111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MAE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61372" y="4131745"/>
            <a:ext cx="2292363" cy="343168"/>
            <a:chOff x="0" y="0"/>
            <a:chExt cx="3056484" cy="457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56484" cy="457559"/>
            </a:xfrm>
            <a:custGeom>
              <a:avLst/>
              <a:gdLst/>
              <a:ahLst/>
              <a:cxnLst/>
              <a:rect r="r" b="b" t="t" l="l"/>
              <a:pathLst>
                <a:path h="457559" w="3056484">
                  <a:moveTo>
                    <a:pt x="0" y="0"/>
                  </a:moveTo>
                  <a:lnTo>
                    <a:pt x="3056484" y="0"/>
                  </a:lnTo>
                  <a:lnTo>
                    <a:pt x="305648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159" r="0" b="-801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056484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65"/>
                </a:lnSpc>
                <a:spcBef>
                  <a:spcPct val="0"/>
                </a:spcBef>
              </a:pPr>
              <a:r>
                <a:rPr lang="en-US" sz="1471" strike="noStrike" u="none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28.47 ± 1.11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5280">
            <a:off x="927697" y="5307482"/>
            <a:ext cx="745133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933421" y="5600500"/>
            <a:ext cx="2745343" cy="274539"/>
            <a:chOff x="0" y="0"/>
            <a:chExt cx="3660458" cy="3660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LATE LIFE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12118" y="5586774"/>
            <a:ext cx="1784471" cy="329441"/>
            <a:chOff x="0" y="0"/>
            <a:chExt cx="2379294" cy="4392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79299" cy="439255"/>
            </a:xfrm>
            <a:custGeom>
              <a:avLst/>
              <a:gdLst/>
              <a:ahLst/>
              <a:cxnLst/>
              <a:rect r="r" b="b" t="t" l="l"/>
              <a:pathLst>
                <a:path h="439255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379294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&lt; 50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3421" y="6012304"/>
            <a:ext cx="4804353" cy="658882"/>
            <a:chOff x="0" y="0"/>
            <a:chExt cx="6405804" cy="8785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5805" cy="878510"/>
            </a:xfrm>
            <a:custGeom>
              <a:avLst/>
              <a:gdLst/>
              <a:ahLst/>
              <a:cxnLst/>
              <a:rect r="r" b="b" t="t" l="l"/>
              <a:pathLst>
                <a:path h="878510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405804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79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Sensor drift may become clearer as failure approaches.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847588" y="5627951"/>
            <a:ext cx="686333" cy="274539"/>
            <a:chOff x="0" y="0"/>
            <a:chExt cx="915111" cy="3660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5115" cy="366046"/>
            </a:xfrm>
            <a:custGeom>
              <a:avLst/>
              <a:gdLst/>
              <a:ahLst/>
              <a:cxnLst/>
              <a:rect r="r" b="b" t="t" l="l"/>
              <a:pathLst>
                <a:path h="366046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2" t="0" r="-1322" b="-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15111" cy="375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MAE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61372" y="5586774"/>
            <a:ext cx="2292363" cy="343168"/>
            <a:chOff x="0" y="0"/>
            <a:chExt cx="3056484" cy="4575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56484" cy="457559"/>
            </a:xfrm>
            <a:custGeom>
              <a:avLst/>
              <a:gdLst/>
              <a:ahLst/>
              <a:cxnLst/>
              <a:rect r="r" b="b" t="t" l="l"/>
              <a:pathLst>
                <a:path h="457559" w="3056484">
                  <a:moveTo>
                    <a:pt x="0" y="0"/>
                  </a:moveTo>
                  <a:lnTo>
                    <a:pt x="3056484" y="0"/>
                  </a:lnTo>
                  <a:lnTo>
                    <a:pt x="305648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159" r="0" b="-8015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056484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65"/>
                </a:lnSpc>
                <a:spcBef>
                  <a:spcPct val="0"/>
                </a:spcBef>
              </a:pPr>
              <a:r>
                <a:rPr lang="en-US" sz="1471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5.04 ± 0.34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5280">
            <a:off x="927697" y="6762512"/>
            <a:ext cx="7451331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933421" y="7028078"/>
            <a:ext cx="6451559" cy="274534"/>
            <a:chOff x="0" y="0"/>
            <a:chExt cx="8602078" cy="36604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02080" cy="366040"/>
            </a:xfrm>
            <a:custGeom>
              <a:avLst/>
              <a:gdLst/>
              <a:ahLst/>
              <a:cxnLst/>
              <a:rect r="r" b="b" t="t" l="l"/>
              <a:pathLst>
                <a:path h="366040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7904" r="0" b="-4079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602078" cy="366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351"/>
                </a:lnSpc>
                <a:spcBef>
                  <a:spcPct val="0"/>
                </a:spcBef>
              </a:pPr>
              <a:r>
                <a:rPr lang="en-US" sz="1125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EARLY / LATE MAE  ·  CV MEAN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5365860">
            <a:off x="700221" y="8320497"/>
            <a:ext cx="1344901" cy="0"/>
          </a:xfrm>
          <a:prstGeom prst="line">
            <a:avLst/>
          </a:prstGeom>
          <a:ln cap="rnd" w="9525">
            <a:solidFill>
              <a:srgbClr val="9CA9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6660">
            <a:off x="1365990" y="8986237"/>
            <a:ext cx="6876717" cy="0"/>
          </a:xfrm>
          <a:prstGeom prst="line">
            <a:avLst/>
          </a:prstGeom>
          <a:ln cap="rnd" w="9525">
            <a:solidFill>
              <a:srgbClr val="9CA9B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2436686" y="7927372"/>
            <a:ext cx="1248747" cy="768315"/>
            <a:chOff x="0" y="0"/>
            <a:chExt cx="1664995" cy="10244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64970" cy="1024382"/>
            </a:xfrm>
            <a:custGeom>
              <a:avLst/>
              <a:gdLst/>
              <a:ahLst/>
              <a:cxnLst/>
              <a:rect r="r" b="b" t="t" l="l"/>
              <a:pathLst>
                <a:path h="1024382" w="1664970">
                  <a:moveTo>
                    <a:pt x="0" y="0"/>
                  </a:moveTo>
                  <a:lnTo>
                    <a:pt x="1664970" y="0"/>
                  </a:lnTo>
                  <a:lnTo>
                    <a:pt x="1664970" y="1024382"/>
                  </a:lnTo>
                  <a:lnTo>
                    <a:pt x="0" y="10243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941" t="0" r="-28943" b="-3"/>
              </a:stretch>
            </a:blipFill>
            <a:ln w="13345" cap="sq">
              <a:solidFill>
                <a:srgbClr val="84D8F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5250666" y="7927372"/>
            <a:ext cx="1248747" cy="768315"/>
            <a:chOff x="0" y="0"/>
            <a:chExt cx="1664995" cy="10244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64970" cy="1024382"/>
            </a:xfrm>
            <a:custGeom>
              <a:avLst/>
              <a:gdLst/>
              <a:ahLst/>
              <a:cxnLst/>
              <a:rect r="r" b="b" t="t" l="l"/>
              <a:pathLst>
                <a:path h="1024382" w="1664970">
                  <a:moveTo>
                    <a:pt x="0" y="0"/>
                  </a:moveTo>
                  <a:lnTo>
                    <a:pt x="1664970" y="0"/>
                  </a:lnTo>
                  <a:lnTo>
                    <a:pt x="1664970" y="1024382"/>
                  </a:lnTo>
                  <a:lnTo>
                    <a:pt x="0" y="10243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941" t="0" r="-28943" b="-3"/>
              </a:stretch>
            </a:blipFill>
            <a:ln w="13345" cap="sq">
              <a:solidFill>
                <a:srgbClr val="F04ADB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2566902" y="8181127"/>
            <a:ext cx="988324" cy="247081"/>
            <a:chOff x="0" y="0"/>
            <a:chExt cx="1317765" cy="32944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17765" cy="329445"/>
            </a:xfrm>
            <a:custGeom>
              <a:avLst/>
              <a:gdLst/>
              <a:ahLst/>
              <a:cxnLst/>
              <a:rect r="r" b="b" t="t" l="l"/>
              <a:pathLst>
                <a:path h="329445" w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329445"/>
                  </a:lnTo>
                  <a:lnTo>
                    <a:pt x="0" y="329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3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317765" cy="329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441"/>
                </a:lnSpc>
                <a:spcBef>
                  <a:spcPct val="0"/>
                </a:spcBef>
              </a:pPr>
              <a:r>
                <a:rPr lang="en-US" sz="1200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28.47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380873" y="8181127"/>
            <a:ext cx="988324" cy="247081"/>
            <a:chOff x="0" y="0"/>
            <a:chExt cx="1317765" cy="32944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17765" cy="329445"/>
            </a:xfrm>
            <a:custGeom>
              <a:avLst/>
              <a:gdLst/>
              <a:ahLst/>
              <a:cxnLst/>
              <a:rect r="r" b="b" t="t" l="l"/>
              <a:pathLst>
                <a:path h="329445" w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329445"/>
                  </a:lnTo>
                  <a:lnTo>
                    <a:pt x="0" y="329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3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317765" cy="329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441"/>
                </a:lnSpc>
                <a:spcBef>
                  <a:spcPct val="0"/>
                </a:spcBef>
              </a:pPr>
              <a:r>
                <a:rPr lang="en-US" sz="1200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5.04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784471" y="9073363"/>
            <a:ext cx="2608078" cy="247079"/>
            <a:chOff x="0" y="0"/>
            <a:chExt cx="3477438" cy="32943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77437" cy="329441"/>
            </a:xfrm>
            <a:custGeom>
              <a:avLst/>
              <a:gdLst/>
              <a:ahLst/>
              <a:cxnLst/>
              <a:rect r="r" b="b" t="t" l="l"/>
              <a:pathLst>
                <a:path h="329441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675" r="0" b="-15567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9525"/>
              <a:ext cx="3477438" cy="319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EARLY  ·  RUL ≥ 50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735716" y="9073363"/>
            <a:ext cx="2470814" cy="247079"/>
            <a:chOff x="0" y="0"/>
            <a:chExt cx="3294418" cy="32943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294414" cy="329441"/>
            </a:xfrm>
            <a:custGeom>
              <a:avLst/>
              <a:gdLst/>
              <a:ahLst/>
              <a:cxnLst/>
              <a:rect r="r" b="b" t="t" l="l"/>
              <a:pathLst>
                <a:path h="329441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1" r="0" b="-1448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3294418" cy="319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LATE  ·  RUL &lt; 50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775480" y="892235"/>
            <a:ext cx="4804353" cy="274539"/>
            <a:chOff x="0" y="0"/>
            <a:chExt cx="6405804" cy="3660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05805" cy="366046"/>
            </a:xfrm>
            <a:custGeom>
              <a:avLst/>
              <a:gdLst/>
              <a:ahLst/>
              <a:cxnLst/>
              <a:rect r="r" b="b" t="t" l="l"/>
              <a:pathLst>
                <a:path h="366046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7" r="0" b="-29098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6405804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PREDICTED VS TRUE RUL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775480" y="1290314"/>
            <a:ext cx="5902490" cy="406410"/>
            <a:chOff x="0" y="0"/>
            <a:chExt cx="7869987" cy="5418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869989" cy="541876"/>
            </a:xfrm>
            <a:custGeom>
              <a:avLst/>
              <a:gdLst/>
              <a:ahLst/>
              <a:cxnLst/>
              <a:rect r="r" b="b" t="t" l="l"/>
              <a:pathLst>
                <a:path h="541876" w="7869989">
                  <a:moveTo>
                    <a:pt x="0" y="0"/>
                  </a:moveTo>
                  <a:lnTo>
                    <a:pt x="7869989" y="0"/>
                  </a:lnTo>
                  <a:lnTo>
                    <a:pt x="7869989" y="541876"/>
                  </a:lnTo>
                  <a:lnTo>
                    <a:pt x="0" y="5418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839" r="0" b="-22014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7869987" cy="54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41"/>
                </a:lnSpc>
                <a:spcBef>
                  <a:spcPct val="0"/>
                </a:spcBef>
              </a:pPr>
              <a:r>
                <a:rPr lang="en-US" sz="1200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Scatter panel is illustrative; values shown here are from the notebook's CV and test metrics.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5400">
            <a:off x="11319777" y="2397414"/>
            <a:ext cx="6063024" cy="0"/>
          </a:xfrm>
          <a:prstGeom prst="line">
            <a:avLst/>
          </a:prstGeom>
          <a:ln cap="rnd" w="9525">
            <a:solidFill>
              <a:srgbClr val="3B4A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5400">
            <a:off x="11319777" y="3632816"/>
            <a:ext cx="6063024" cy="0"/>
          </a:xfrm>
          <a:prstGeom prst="line">
            <a:avLst/>
          </a:prstGeom>
          <a:ln cap="rnd" w="9525">
            <a:solidFill>
              <a:srgbClr val="3B4A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5400">
            <a:off x="11319777" y="4868228"/>
            <a:ext cx="6063024" cy="0"/>
          </a:xfrm>
          <a:prstGeom prst="line">
            <a:avLst/>
          </a:prstGeom>
          <a:ln cap="rnd" w="9525">
            <a:solidFill>
              <a:srgbClr val="3B4A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5400">
            <a:off x="11319777" y="6103630"/>
            <a:ext cx="6063024" cy="0"/>
          </a:xfrm>
          <a:prstGeom prst="line">
            <a:avLst/>
          </a:prstGeom>
          <a:ln cap="rnd" w="9525">
            <a:solidFill>
              <a:srgbClr val="3B4A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5392080">
            <a:off x="9467145" y="4250522"/>
            <a:ext cx="3714807" cy="0"/>
          </a:xfrm>
          <a:prstGeom prst="line">
            <a:avLst/>
          </a:prstGeom>
          <a:ln cap="rnd" w="9525">
            <a:solidFill>
              <a:srgbClr val="34418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5392080">
            <a:off x="10977086" y="4250522"/>
            <a:ext cx="3714807" cy="0"/>
          </a:xfrm>
          <a:prstGeom prst="line">
            <a:avLst/>
          </a:prstGeom>
          <a:ln cap="rnd" w="9525">
            <a:solidFill>
              <a:srgbClr val="34418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5392080">
            <a:off x="12487027" y="4250522"/>
            <a:ext cx="3714807" cy="0"/>
          </a:xfrm>
          <a:prstGeom prst="line">
            <a:avLst/>
          </a:prstGeom>
          <a:ln cap="rnd" w="9525">
            <a:solidFill>
              <a:srgbClr val="34418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5392080">
            <a:off x="13996968" y="4250522"/>
            <a:ext cx="3714807" cy="0"/>
          </a:xfrm>
          <a:prstGeom prst="line">
            <a:avLst/>
          </a:prstGeom>
          <a:ln cap="rnd" w="9525">
            <a:solidFill>
              <a:srgbClr val="34418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5392080">
            <a:off x="15506900" y="4250522"/>
            <a:ext cx="3714807" cy="0"/>
          </a:xfrm>
          <a:prstGeom prst="line">
            <a:avLst/>
          </a:prstGeom>
          <a:ln cap="rnd" w="9525">
            <a:solidFill>
              <a:srgbClr val="34418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8640">
            <a:off x="11316910" y="6103630"/>
            <a:ext cx="6055033" cy="0"/>
          </a:xfrm>
          <a:prstGeom prst="line">
            <a:avLst/>
          </a:prstGeom>
          <a:ln cap="rnd" w="9525">
            <a:solidFill>
              <a:srgbClr val="CDD5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rot="5385900">
            <a:off x="9463802" y="4250522"/>
            <a:ext cx="3721503" cy="0"/>
          </a:xfrm>
          <a:prstGeom prst="line">
            <a:avLst/>
          </a:prstGeom>
          <a:ln cap="rnd" w="9525">
            <a:solidFill>
              <a:srgbClr val="CDD5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15305294" y="6273117"/>
            <a:ext cx="2059010" cy="274539"/>
            <a:chOff x="0" y="0"/>
            <a:chExt cx="2745346" cy="3660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45345" cy="366046"/>
            </a:xfrm>
            <a:custGeom>
              <a:avLst/>
              <a:gdLst/>
              <a:ahLst/>
              <a:cxnLst/>
              <a:rect r="r" b="b" t="t" l="l"/>
              <a:pathLst>
                <a:path h="366046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2745346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TRUE RUL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269637" y="2127647"/>
            <a:ext cx="1235402" cy="247079"/>
            <a:chOff x="0" y="0"/>
            <a:chExt cx="1647203" cy="32943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47207" cy="329441"/>
            </a:xfrm>
            <a:custGeom>
              <a:avLst/>
              <a:gdLst/>
              <a:ahLst/>
              <a:cxnLst/>
              <a:rect r="r" b="b" t="t" l="l"/>
              <a:pathLst>
                <a:path h="32944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64720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PREDICTED</a:t>
              </a:r>
            </a:p>
          </p:txBody>
        </p:sp>
      </p:grpSp>
      <p:sp>
        <p:nvSpPr>
          <p:cNvPr name="AutoShape 96" id="96"/>
          <p:cNvSpPr/>
          <p:nvPr/>
        </p:nvSpPr>
        <p:spPr>
          <a:xfrm rot="-1837500">
            <a:off x="11098511" y="4236796"/>
            <a:ext cx="6450644" cy="0"/>
          </a:xfrm>
          <a:prstGeom prst="line">
            <a:avLst/>
          </a:prstGeom>
          <a:ln cap="rnd" w="9525">
            <a:solidFill>
              <a:srgbClr val="8790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7" id="97"/>
          <p:cNvGrpSpPr/>
          <p:nvPr/>
        </p:nvGrpSpPr>
        <p:grpSpPr>
          <a:xfrm rot="0">
            <a:off x="12045201" y="5428917"/>
            <a:ext cx="123539" cy="123539"/>
            <a:chOff x="0" y="0"/>
            <a:chExt cx="164719" cy="1647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498181" y="5181838"/>
            <a:ext cx="123539" cy="123539"/>
            <a:chOff x="0" y="0"/>
            <a:chExt cx="164719" cy="16471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47250" y="4811220"/>
            <a:ext cx="123539" cy="123539"/>
            <a:chOff x="0" y="0"/>
            <a:chExt cx="164719" cy="16471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280603" y="5099475"/>
            <a:ext cx="123539" cy="123539"/>
            <a:chOff x="0" y="0"/>
            <a:chExt cx="164719" cy="16471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829671" y="4056250"/>
            <a:ext cx="123539" cy="123539"/>
            <a:chOff x="0" y="0"/>
            <a:chExt cx="164719" cy="16471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516014" y="4262152"/>
            <a:ext cx="123539" cy="123539"/>
            <a:chOff x="0" y="0"/>
            <a:chExt cx="164719" cy="16471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5106259" y="3301279"/>
            <a:ext cx="123539" cy="123539"/>
            <a:chOff x="0" y="0"/>
            <a:chExt cx="164719" cy="16471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5627877" y="3575809"/>
            <a:ext cx="123539" cy="123539"/>
            <a:chOff x="0" y="0"/>
            <a:chExt cx="164719" cy="16471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6410299" y="2614936"/>
            <a:ext cx="123539" cy="123539"/>
            <a:chOff x="0" y="0"/>
            <a:chExt cx="164719" cy="1647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64846" cy="164846"/>
            </a:xfrm>
            <a:custGeom>
              <a:avLst/>
              <a:gdLst/>
              <a:ahLst/>
              <a:cxnLst/>
              <a:rect r="r" b="b" t="t" l="l"/>
              <a:pathLst>
                <a:path h="164846" w="164846">
                  <a:moveTo>
                    <a:pt x="0" y="82423"/>
                  </a:moveTo>
                  <a:cubicBezTo>
                    <a:pt x="0" y="36830"/>
                    <a:pt x="36830" y="0"/>
                    <a:pt x="82423" y="0"/>
                  </a:cubicBezTo>
                  <a:cubicBezTo>
                    <a:pt x="128016" y="0"/>
                    <a:pt x="164846" y="36830"/>
                    <a:pt x="164846" y="82423"/>
                  </a:cubicBezTo>
                  <a:cubicBezTo>
                    <a:pt x="164846" y="128016"/>
                    <a:pt x="128016" y="164846"/>
                    <a:pt x="82423" y="164846"/>
                  </a:cubicBezTo>
                  <a:cubicBezTo>
                    <a:pt x="36830" y="164846"/>
                    <a:pt x="0" y="127889"/>
                    <a:pt x="0" y="82423"/>
                  </a:cubicBezTo>
                  <a:close/>
                </a:path>
              </a:pathLst>
            </a:custGeom>
            <a:solidFill>
              <a:srgbClr val="84D8FF"/>
            </a:solidFill>
          </p:spPr>
        </p:sp>
      </p:grpSp>
      <p:sp>
        <p:nvSpPr>
          <p:cNvPr name="AutoShape 115" id="115"/>
          <p:cNvSpPr/>
          <p:nvPr/>
        </p:nvSpPr>
        <p:spPr>
          <a:xfrm rot="6900">
            <a:off x="10768803" y="6817424"/>
            <a:ext cx="6670824" cy="0"/>
          </a:xfrm>
          <a:prstGeom prst="line">
            <a:avLst/>
          </a:prstGeom>
          <a:ln cap="rnd" w="9525">
            <a:solidFill>
              <a:srgbClr val="6675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6" id="116"/>
          <p:cNvGrpSpPr/>
          <p:nvPr/>
        </p:nvGrpSpPr>
        <p:grpSpPr>
          <a:xfrm rot="0">
            <a:off x="10775480" y="7137892"/>
            <a:ext cx="3019882" cy="274539"/>
            <a:chOff x="0" y="0"/>
            <a:chExt cx="4026510" cy="3660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026506" cy="366046"/>
            </a:xfrm>
            <a:custGeom>
              <a:avLst/>
              <a:gdLst/>
              <a:ahLst/>
              <a:cxnLst/>
              <a:rect r="r" b="b" t="t" l="l"/>
              <a:pathLst>
                <a:path h="366046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4" r="0" b="-16433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4026510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COMPARE AGAINST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775480" y="7577147"/>
            <a:ext cx="6314294" cy="556432"/>
            <a:chOff x="0" y="0"/>
            <a:chExt cx="8419059" cy="74191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8419057" cy="741915"/>
            </a:xfrm>
            <a:custGeom>
              <a:avLst/>
              <a:gdLst/>
              <a:ahLst/>
              <a:cxnLst/>
              <a:rect r="r" b="b" t="t" l="l"/>
              <a:pathLst>
                <a:path h="741915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741915"/>
                  </a:lnTo>
                  <a:lnTo>
                    <a:pt x="0" y="7419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808" r="0" b="-15441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8419059" cy="741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981"/>
                </a:lnSpc>
                <a:spcBef>
                  <a:spcPct val="0"/>
                </a:spcBef>
              </a:pPr>
              <a:r>
                <a:rPr lang="en-US" sz="1651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Test MAE (early / late): RF 20.54 / 4.02; Elastic Net 25.02 / 20.55; Naive 21.44 / 86.24.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775480" y="8236039"/>
            <a:ext cx="5353421" cy="274539"/>
            <a:chOff x="0" y="0"/>
            <a:chExt cx="7137895" cy="3660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137897" cy="366046"/>
            </a:xfrm>
            <a:custGeom>
              <a:avLst/>
              <a:gdLst/>
              <a:ahLst/>
              <a:cxnLst/>
              <a:rect r="r" b="b" t="t" l="l"/>
              <a:pathLst>
                <a:path h="366046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957" r="0" b="-3299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7137895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TOP 3 RANDOM FOREST FEATURES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775480" y="8675294"/>
            <a:ext cx="2113912" cy="301988"/>
            <a:chOff x="0" y="0"/>
            <a:chExt cx="2818549" cy="40265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818554" cy="402648"/>
            </a:xfrm>
            <a:custGeom>
              <a:avLst/>
              <a:gdLst/>
              <a:ahLst/>
              <a:cxnLst/>
              <a:rect r="r" b="b" t="t" l="l"/>
              <a:pathLst>
                <a:path h="402648" w="2818554">
                  <a:moveTo>
                    <a:pt x="0" y="0"/>
                  </a:moveTo>
                  <a:lnTo>
                    <a:pt x="2818554" y="0"/>
                  </a:lnTo>
                  <a:lnTo>
                    <a:pt x="2818554" y="402648"/>
                  </a:lnTo>
                  <a:lnTo>
                    <a:pt x="0" y="402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2818549" cy="40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59"/>
                </a:lnSpc>
                <a:spcBef>
                  <a:spcPct val="0"/>
                </a:spcBef>
              </a:pPr>
              <a:r>
                <a:rPr lang="en-US" sz="121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cycle  ·  0.559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999206" y="8675294"/>
            <a:ext cx="2113912" cy="301988"/>
            <a:chOff x="0" y="0"/>
            <a:chExt cx="2818549" cy="40265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818554" cy="402648"/>
            </a:xfrm>
            <a:custGeom>
              <a:avLst/>
              <a:gdLst/>
              <a:ahLst/>
              <a:cxnLst/>
              <a:rect r="r" b="b" t="t" l="l"/>
              <a:pathLst>
                <a:path h="402648" w="2818554">
                  <a:moveTo>
                    <a:pt x="0" y="0"/>
                  </a:moveTo>
                  <a:lnTo>
                    <a:pt x="2818554" y="0"/>
                  </a:lnTo>
                  <a:lnTo>
                    <a:pt x="2818554" y="402648"/>
                  </a:lnTo>
                  <a:lnTo>
                    <a:pt x="0" y="402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2818549" cy="40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59"/>
                </a:lnSpc>
                <a:spcBef>
                  <a:spcPct val="0"/>
                </a:spcBef>
              </a:pPr>
              <a:r>
                <a:rPr lang="en-US" sz="121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s4_mean  ·  0.088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5222941" y="8675294"/>
            <a:ext cx="2113912" cy="301988"/>
            <a:chOff x="0" y="0"/>
            <a:chExt cx="2818549" cy="40265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818554" cy="402648"/>
            </a:xfrm>
            <a:custGeom>
              <a:avLst/>
              <a:gdLst/>
              <a:ahLst/>
              <a:cxnLst/>
              <a:rect r="r" b="b" t="t" l="l"/>
              <a:pathLst>
                <a:path h="402648" w="2818554">
                  <a:moveTo>
                    <a:pt x="0" y="0"/>
                  </a:moveTo>
                  <a:lnTo>
                    <a:pt x="2818554" y="0"/>
                  </a:lnTo>
                  <a:lnTo>
                    <a:pt x="2818554" y="402648"/>
                  </a:lnTo>
                  <a:lnTo>
                    <a:pt x="0" y="402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2818549" cy="402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59"/>
                </a:lnSpc>
                <a:spcBef>
                  <a:spcPct val="0"/>
                </a:spcBef>
              </a:pPr>
              <a:r>
                <a:rPr lang="en-US" sz="1215" strike="noStrike" u="none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s15_mean  ·  0.048</a:t>
              </a:r>
            </a:p>
          </p:txBody>
        </p:sp>
      </p:grpSp>
      <p:sp>
        <p:nvSpPr>
          <p:cNvPr name="AutoShape 134" id="134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5" id="135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09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2804" y="0"/>
            <a:ext cx="8899036" cy="10295039"/>
            <a:chOff x="0" y="0"/>
            <a:chExt cx="11865381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1186535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865356">
                  <a:moveTo>
                    <a:pt x="0" y="0"/>
                  </a:moveTo>
                  <a:lnTo>
                    <a:pt x="11865356" y="0"/>
                  </a:lnTo>
                  <a:lnTo>
                    <a:pt x="1186535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833" t="0" r="-528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7412431" cy="329441"/>
            <a:chOff x="0" y="0"/>
            <a:chExt cx="9883242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83241" cy="439255"/>
            </a:xfrm>
            <a:custGeom>
              <a:avLst/>
              <a:gdLst/>
              <a:ahLst/>
              <a:cxnLst/>
              <a:rect r="r" b="b" t="t" l="l"/>
              <a:pathLst>
                <a:path h="439255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883242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09 / TARGET DESIGN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7412431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Why the main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model is uncapped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7412431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Capping at 125 is a secondary comparison; the project target stays raw RUL.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5961" y="3870931"/>
            <a:ext cx="7206529" cy="658882"/>
            <a:chOff x="0" y="0"/>
            <a:chExt cx="9608706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08707" cy="878510"/>
            </a:xfrm>
            <a:custGeom>
              <a:avLst/>
              <a:gdLst/>
              <a:ahLst/>
              <a:cxnLst/>
              <a:rect r="r" b="b" t="t" l="l"/>
              <a:pathLst>
                <a:path h="878510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60870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Same 5-fold CV. Both models are scored against true, uncapped RUL.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5961" y="4845529"/>
            <a:ext cx="5353421" cy="274539"/>
            <a:chOff x="0" y="0"/>
            <a:chExt cx="7137895" cy="3660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37897" cy="366046"/>
            </a:xfrm>
            <a:custGeom>
              <a:avLst/>
              <a:gdLst/>
              <a:ahLst/>
              <a:cxnLst/>
              <a:rect r="r" b="b" t="t" l="l"/>
              <a:pathLst>
                <a:path h="366046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957" r="0" b="-3299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137895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TARGET TRANSFORM / SCHEMATIC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7800">
            <a:off x="1296400" y="8094002"/>
            <a:ext cx="6741366" cy="0"/>
          </a:xfrm>
          <a:prstGeom prst="line">
            <a:avLst/>
          </a:prstGeom>
          <a:ln cap="rnd" w="9525">
            <a:solidFill>
              <a:srgbClr val="9CA9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5380020">
            <a:off x="-7649" y="6789963"/>
            <a:ext cx="2623376" cy="0"/>
          </a:xfrm>
          <a:prstGeom prst="line">
            <a:avLst/>
          </a:prstGeom>
          <a:ln cap="rnd" w="9525">
            <a:solidFill>
              <a:srgbClr val="9CA9B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5971127" y="8263490"/>
            <a:ext cx="2059010" cy="274539"/>
            <a:chOff x="0" y="0"/>
            <a:chExt cx="2745346" cy="3660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5345" cy="366046"/>
            </a:xfrm>
            <a:custGeom>
              <a:avLst/>
              <a:gdLst/>
              <a:ahLst/>
              <a:cxnLst/>
              <a:rect r="r" b="b" t="t" l="l"/>
              <a:pathLst>
                <a:path h="366046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745346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RAW RUL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9128" y="5216157"/>
            <a:ext cx="1235402" cy="247079"/>
            <a:chOff x="0" y="0"/>
            <a:chExt cx="1647203" cy="3294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7207" cy="329441"/>
            </a:xfrm>
            <a:custGeom>
              <a:avLst/>
              <a:gdLst/>
              <a:ahLst/>
              <a:cxnLst/>
              <a:rect r="r" b="b" t="t" l="l"/>
              <a:pathLst>
                <a:path h="329441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64720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TARGET RUL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-1462680">
            <a:off x="1431903" y="7588215"/>
            <a:ext cx="1322851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-1433820">
            <a:off x="2599877" y="7080333"/>
            <a:ext cx="1347902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-1462680">
            <a:off x="3792903" y="6572440"/>
            <a:ext cx="1322851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-1355700">
            <a:off x="4966849" y="6078274"/>
            <a:ext cx="1349673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-1351680">
            <a:off x="6162656" y="5536073"/>
            <a:ext cx="1675952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-1467600">
            <a:off x="1429379" y="7588215"/>
            <a:ext cx="1327899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-1438740">
            <a:off x="2597353" y="7080333"/>
            <a:ext cx="1352931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-1464660">
            <a:off x="3791988" y="6579299"/>
            <a:ext cx="1297219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-1463400">
            <a:off x="4953600" y="6188088"/>
            <a:ext cx="799643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68640">
            <a:off x="5675414" y="6043965"/>
            <a:ext cx="2101367" cy="0"/>
          </a:xfrm>
          <a:prstGeom prst="line">
            <a:avLst/>
          </a:prstGeom>
          <a:ln cap="rnd" w="19050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18480">
            <a:off x="5552637" y="6062453"/>
            <a:ext cx="2484196" cy="0"/>
          </a:xfrm>
          <a:prstGeom prst="line">
            <a:avLst/>
          </a:prstGeom>
          <a:ln cap="rnd" w="9525">
            <a:solidFill>
              <a:srgbClr val="F04AD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6177029" y="5655412"/>
            <a:ext cx="1441304" cy="247079"/>
            <a:chOff x="0" y="0"/>
            <a:chExt cx="1921739" cy="3294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21741" cy="329441"/>
            </a:xfrm>
            <a:custGeom>
              <a:avLst/>
              <a:gdLst/>
              <a:ahLst/>
              <a:cxnLst/>
              <a:rect r="r" b="b" t="t" l="l"/>
              <a:pathLst>
                <a:path h="329441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63" r="0" b="-6366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921739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cap = 125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05961" y="8538020"/>
            <a:ext cx="7755598" cy="301990"/>
            <a:chOff x="0" y="0"/>
            <a:chExt cx="10340797" cy="4026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40799" cy="402651"/>
            </a:xfrm>
            <a:custGeom>
              <a:avLst/>
              <a:gdLst/>
              <a:ahLst/>
              <a:cxnLst/>
              <a:rect r="r" b="b" t="t" l="l"/>
              <a:pathLst>
                <a:path h="402651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0410" r="0" b="-45041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340797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9CA9B7"/>
                  </a:solidFill>
                  <a:latin typeface="Aptos"/>
                  <a:ea typeface="Aptos"/>
                  <a:cs typeface="Aptos"/>
                  <a:sym typeface="Aptos"/>
                </a:rPr>
                <a:t>Comparison shape only; not a result plot.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51872" y="933421"/>
            <a:ext cx="6451559" cy="274534"/>
            <a:chOff x="0" y="0"/>
            <a:chExt cx="8602078" cy="36604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02080" cy="366040"/>
            </a:xfrm>
            <a:custGeom>
              <a:avLst/>
              <a:gdLst/>
              <a:ahLst/>
              <a:cxnLst/>
              <a:rect r="r" b="b" t="t" l="l"/>
              <a:pathLst>
                <a:path h="366040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7904" r="0" b="-40790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8602078" cy="366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441"/>
                </a:lnSpc>
                <a:spcBef>
                  <a:spcPct val="0"/>
                </a:spcBef>
              </a:pPr>
              <a:r>
                <a:rPr lang="en-US" sz="1200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5-FOLD GROUPKFOLD  /  SCORED ON RAW RUL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951872" y="1372676"/>
            <a:ext cx="6588824" cy="494167"/>
            <a:chOff x="0" y="0"/>
            <a:chExt cx="8785098" cy="6588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785103" cy="658883"/>
            </a:xfrm>
            <a:custGeom>
              <a:avLst/>
              <a:gdLst/>
              <a:ahLst/>
              <a:cxnLst/>
              <a:rect r="r" b="b" t="t" l="l"/>
              <a:pathLst>
                <a:path h="658883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799" r="0" b="-2098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785098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Capped vs. uncapped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45205" y="2464137"/>
            <a:ext cx="3280305" cy="1331109"/>
            <a:chOff x="0" y="0"/>
            <a:chExt cx="4373740" cy="17748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73753" cy="1774825"/>
            </a:xfrm>
            <a:custGeom>
              <a:avLst/>
              <a:gdLst/>
              <a:ahLst/>
              <a:cxnLst/>
              <a:rect r="r" b="b" t="t" l="l"/>
              <a:pathLst>
                <a:path h="1774825" w="4373753">
                  <a:moveTo>
                    <a:pt x="0" y="0"/>
                  </a:moveTo>
                  <a:lnTo>
                    <a:pt x="4373753" y="0"/>
                  </a:lnTo>
                  <a:lnTo>
                    <a:pt x="4373753" y="1774825"/>
                  </a:lnTo>
                  <a:lnTo>
                    <a:pt x="0" y="1774825"/>
                  </a:lnTo>
                  <a:close/>
                </a:path>
              </a:pathLst>
            </a:custGeom>
            <a:solidFill>
              <a:srgbClr val="172365"/>
            </a:solidFill>
            <a:ln w="13345" cap="sq">
              <a:solidFill>
                <a:srgbClr val="5362D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198960" y="2676716"/>
            <a:ext cx="2745343" cy="274539"/>
            <a:chOff x="0" y="0"/>
            <a:chExt cx="3660458" cy="3660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RMSE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198960" y="3047333"/>
            <a:ext cx="1372676" cy="812820"/>
            <a:chOff x="0" y="0"/>
            <a:chExt cx="1830235" cy="1083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30230" cy="1083754"/>
            </a:xfrm>
            <a:custGeom>
              <a:avLst/>
              <a:gdLst/>
              <a:ahLst/>
              <a:cxnLst/>
              <a:rect r="r" b="b" t="t" l="l"/>
              <a:pathLst>
                <a:path h="1083754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1083754"/>
                  </a:lnTo>
                  <a:lnTo>
                    <a:pt x="0" y="10837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74" r="0" b="417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830235" cy="108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82"/>
                </a:lnSpc>
                <a:spcBef>
                  <a:spcPct val="0"/>
                </a:spcBef>
              </a:pPr>
              <a:r>
                <a:rPr lang="en-US" sz="2401" strike="noStrike" u="none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46.40 ± 2.11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93176" y="3143421"/>
            <a:ext cx="1441304" cy="247079"/>
            <a:chOff x="0" y="0"/>
            <a:chExt cx="1921739" cy="3294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21741" cy="329441"/>
            </a:xfrm>
            <a:custGeom>
              <a:avLst/>
              <a:gdLst/>
              <a:ahLst/>
              <a:cxnLst/>
              <a:rect r="r" b="b" t="t" l="l"/>
              <a:pathLst>
                <a:path h="329441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63" r="0" b="-636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921739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CAPPED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55332" y="2464137"/>
            <a:ext cx="3280305" cy="1331109"/>
            <a:chOff x="0" y="0"/>
            <a:chExt cx="4373740" cy="17748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73753" cy="1774825"/>
            </a:xfrm>
            <a:custGeom>
              <a:avLst/>
              <a:gdLst/>
              <a:ahLst/>
              <a:cxnLst/>
              <a:rect r="r" b="b" t="t" l="l"/>
              <a:pathLst>
                <a:path h="1774825" w="4373753">
                  <a:moveTo>
                    <a:pt x="0" y="0"/>
                  </a:moveTo>
                  <a:lnTo>
                    <a:pt x="4373753" y="0"/>
                  </a:lnTo>
                  <a:lnTo>
                    <a:pt x="4373753" y="1774825"/>
                  </a:lnTo>
                  <a:lnTo>
                    <a:pt x="0" y="1774825"/>
                  </a:lnTo>
                  <a:close/>
                </a:path>
              </a:pathLst>
            </a:custGeom>
            <a:solidFill>
              <a:srgbClr val="172365"/>
            </a:solidFill>
            <a:ln w="13345" cap="sq">
              <a:solidFill>
                <a:srgbClr val="5362D1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809078" y="2676716"/>
            <a:ext cx="2745343" cy="274539"/>
            <a:chOff x="0" y="0"/>
            <a:chExt cx="3660458" cy="3660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MAE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809078" y="3047333"/>
            <a:ext cx="1372676" cy="812820"/>
            <a:chOff x="0" y="0"/>
            <a:chExt cx="1830235" cy="1083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230" cy="1083754"/>
            </a:xfrm>
            <a:custGeom>
              <a:avLst/>
              <a:gdLst/>
              <a:ahLst/>
              <a:cxnLst/>
              <a:rect r="r" b="b" t="t" l="l"/>
              <a:pathLst>
                <a:path h="1083754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1083754"/>
                  </a:lnTo>
                  <a:lnTo>
                    <a:pt x="0" y="10837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74" r="0" b="4176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830235" cy="108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82"/>
                </a:lnSpc>
                <a:spcBef>
                  <a:spcPct val="0"/>
                </a:spcBef>
              </a:pPr>
              <a:r>
                <a:rPr lang="en-US" sz="2401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28.90 ± 0.81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003313" y="3143421"/>
            <a:ext cx="1441304" cy="247079"/>
            <a:chOff x="0" y="0"/>
            <a:chExt cx="1921739" cy="3294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21741" cy="329441"/>
            </a:xfrm>
            <a:custGeom>
              <a:avLst/>
              <a:gdLst/>
              <a:ahLst/>
              <a:cxnLst/>
              <a:rect r="r" b="b" t="t" l="l"/>
              <a:pathLst>
                <a:path h="329441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63" r="0" b="-6366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921739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CAPPED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945205" y="4248607"/>
            <a:ext cx="3280305" cy="1331109"/>
            <a:chOff x="0" y="0"/>
            <a:chExt cx="4373740" cy="17748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73753" cy="1774825"/>
            </a:xfrm>
            <a:custGeom>
              <a:avLst/>
              <a:gdLst/>
              <a:ahLst/>
              <a:cxnLst/>
              <a:rect r="r" b="b" t="t" l="l"/>
              <a:pathLst>
                <a:path h="1774825" w="4373753">
                  <a:moveTo>
                    <a:pt x="0" y="0"/>
                  </a:moveTo>
                  <a:lnTo>
                    <a:pt x="4373753" y="0"/>
                  </a:lnTo>
                  <a:lnTo>
                    <a:pt x="4373753" y="1774825"/>
                  </a:lnTo>
                  <a:lnTo>
                    <a:pt x="0" y="1774825"/>
                  </a:lnTo>
                  <a:close/>
                </a:path>
              </a:pathLst>
            </a:custGeom>
            <a:solidFill>
              <a:srgbClr val="172365"/>
            </a:solidFill>
            <a:ln w="13345" cap="sq">
              <a:solidFill>
                <a:srgbClr val="5362D1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0198960" y="4461186"/>
            <a:ext cx="2745343" cy="274539"/>
            <a:chOff x="0" y="0"/>
            <a:chExt cx="3660458" cy="3660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RMSE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198960" y="4831804"/>
            <a:ext cx="1372676" cy="812820"/>
            <a:chOff x="0" y="0"/>
            <a:chExt cx="1830235" cy="10837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30230" cy="1083754"/>
            </a:xfrm>
            <a:custGeom>
              <a:avLst/>
              <a:gdLst/>
              <a:ahLst/>
              <a:cxnLst/>
              <a:rect r="r" b="b" t="t" l="l"/>
              <a:pathLst>
                <a:path h="1083754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1083754"/>
                  </a:lnTo>
                  <a:lnTo>
                    <a:pt x="0" y="10837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74" r="0" b="4176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830235" cy="108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82"/>
                </a:lnSpc>
                <a:spcBef>
                  <a:spcPct val="0"/>
                </a:spcBef>
              </a:pPr>
              <a:r>
                <a:rPr lang="en-US" sz="2401" strike="noStrike" u="none">
                  <a:solidFill>
                    <a:srgbClr val="84D8FF"/>
                  </a:solidFill>
                  <a:latin typeface="Aptos"/>
                  <a:ea typeface="Aptos"/>
                  <a:cs typeface="Aptos"/>
                  <a:sym typeface="Aptos"/>
                </a:rPr>
                <a:t>34.78 ± 1.97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393176" y="4927892"/>
            <a:ext cx="1441304" cy="247079"/>
            <a:chOff x="0" y="0"/>
            <a:chExt cx="1921739" cy="32943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921741" cy="329441"/>
            </a:xfrm>
            <a:custGeom>
              <a:avLst/>
              <a:gdLst/>
              <a:ahLst/>
              <a:cxnLst/>
              <a:rect r="r" b="b" t="t" l="l"/>
              <a:pathLst>
                <a:path h="329441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63" r="0" b="-6366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1921739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UNCAPPED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555332" y="4248607"/>
            <a:ext cx="3280305" cy="1331109"/>
            <a:chOff x="0" y="0"/>
            <a:chExt cx="4373740" cy="17748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73753" cy="1774825"/>
            </a:xfrm>
            <a:custGeom>
              <a:avLst/>
              <a:gdLst/>
              <a:ahLst/>
              <a:cxnLst/>
              <a:rect r="r" b="b" t="t" l="l"/>
              <a:pathLst>
                <a:path h="1774825" w="4373753">
                  <a:moveTo>
                    <a:pt x="0" y="0"/>
                  </a:moveTo>
                  <a:lnTo>
                    <a:pt x="4373753" y="0"/>
                  </a:lnTo>
                  <a:lnTo>
                    <a:pt x="4373753" y="1774825"/>
                  </a:lnTo>
                  <a:lnTo>
                    <a:pt x="0" y="1774825"/>
                  </a:lnTo>
                  <a:close/>
                </a:path>
              </a:pathLst>
            </a:custGeom>
            <a:solidFill>
              <a:srgbClr val="172365"/>
            </a:solidFill>
            <a:ln w="13345" cap="sq">
              <a:solidFill>
                <a:srgbClr val="5362D1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3809078" y="4461186"/>
            <a:ext cx="2745343" cy="274539"/>
            <a:chOff x="0" y="0"/>
            <a:chExt cx="3660458" cy="3660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60460" cy="366046"/>
            </a:xfrm>
            <a:custGeom>
              <a:avLst/>
              <a:gdLst/>
              <a:ahLst/>
              <a:cxnLst/>
              <a:rect r="r" b="b" t="t" l="l"/>
              <a:pathLst>
                <a:path h="366046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49" r="0" b="-14485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366045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CV MAE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809078" y="4831804"/>
            <a:ext cx="1372676" cy="812820"/>
            <a:chOff x="0" y="0"/>
            <a:chExt cx="1830235" cy="10837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30230" cy="1083754"/>
            </a:xfrm>
            <a:custGeom>
              <a:avLst/>
              <a:gdLst/>
              <a:ahLst/>
              <a:cxnLst/>
              <a:rect r="r" b="b" t="t" l="l"/>
              <a:pathLst>
                <a:path h="1083754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1083754"/>
                  </a:lnTo>
                  <a:lnTo>
                    <a:pt x="0" y="10837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74" r="0" b="4176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830235" cy="108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82"/>
                </a:lnSpc>
                <a:spcBef>
                  <a:spcPct val="0"/>
                </a:spcBef>
              </a:pPr>
              <a:r>
                <a:rPr lang="en-US" sz="2401" strike="noStrike" u="none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22.79 ± 0.91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003313" y="4927892"/>
            <a:ext cx="1441304" cy="247079"/>
            <a:chOff x="0" y="0"/>
            <a:chExt cx="1921739" cy="32943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921741" cy="329441"/>
            </a:xfrm>
            <a:custGeom>
              <a:avLst/>
              <a:gdLst/>
              <a:ahLst/>
              <a:cxnLst/>
              <a:rect r="r" b="b" t="t" l="l"/>
              <a:pathLst>
                <a:path h="329441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63" r="0" b="-6366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1921739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UNCAPPED</a:t>
              </a:r>
            </a:p>
          </p:txBody>
        </p:sp>
      </p:grpSp>
      <p:sp>
        <p:nvSpPr>
          <p:cNvPr name="AutoShape 101" id="101"/>
          <p:cNvSpPr/>
          <p:nvPr/>
        </p:nvSpPr>
        <p:spPr>
          <a:xfrm rot="6240">
            <a:off x="9945195" y="6378169"/>
            <a:ext cx="7329697" cy="0"/>
          </a:xfrm>
          <a:prstGeom prst="line">
            <a:avLst/>
          </a:prstGeom>
          <a:ln cap="rnd" w="9525">
            <a:solidFill>
              <a:srgbClr val="6C78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2" id="102"/>
          <p:cNvGrpSpPr/>
          <p:nvPr/>
        </p:nvGrpSpPr>
        <p:grpSpPr>
          <a:xfrm rot="0">
            <a:off x="9951872" y="6726098"/>
            <a:ext cx="4529823" cy="274539"/>
            <a:chOff x="0" y="0"/>
            <a:chExt cx="6039764" cy="3660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039758" cy="366046"/>
            </a:xfrm>
            <a:custGeom>
              <a:avLst/>
              <a:gdLst/>
              <a:ahLst/>
              <a:cxnLst/>
              <a:rect r="r" b="b" t="t" l="l"/>
              <a:pathLst>
                <a:path h="366046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2" r="0" b="-27150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6039764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FINAL CHOICE + RATIONALE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951872" y="7206529"/>
            <a:ext cx="7206529" cy="892237"/>
            <a:chOff x="0" y="0"/>
            <a:chExt cx="9608706" cy="118964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608707" cy="1189652"/>
            </a:xfrm>
            <a:custGeom>
              <a:avLst/>
              <a:gdLst/>
              <a:ahLst/>
              <a:cxnLst/>
              <a:rect r="r" b="b" t="t" l="l"/>
              <a:pathLst>
                <a:path h="1189652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1189652"/>
                  </a:lnTo>
                  <a:lnTo>
                    <a:pt x="0" y="1189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9608706" cy="1189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981"/>
                </a:lnSpc>
                <a:spcBef>
                  <a:spcPct val="0"/>
                </a:spcBef>
              </a:pPr>
              <a:r>
                <a:rPr lang="en-US" sz="1651" strike="noStrike" u="none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Keep uncapped. CV RMSE: 34.78 ± 1.97 vs 46.40 ± 2.11; MAE: 22.79 ± 0.91 vs 28.90 ± 0.81. Early MAE: 28.47 ± 1.11 vs 36.55 ± 1.11; late MAE: 5.04 ± 0.34 vs 4.97 ± 0.29 (uncapped vs capped).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951872" y="8345853"/>
            <a:ext cx="7275166" cy="933421"/>
            <a:chOff x="0" y="0"/>
            <a:chExt cx="9700222" cy="124456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700218" cy="1244556"/>
            </a:xfrm>
            <a:custGeom>
              <a:avLst/>
              <a:gdLst/>
              <a:ahLst/>
              <a:cxnLst/>
              <a:rect r="r" b="b" t="t" l="l"/>
              <a:pathLst>
                <a:path h="1244556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1244556"/>
                  </a:lnTo>
                  <a:lnTo>
                    <a:pt x="0" y="12445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68" r="0" b="-10186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970022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Training targets: min(RUL, 125) vs. raw RUL. Score both against uncapped truth to avoid favouring the capped target by construction.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10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0882" y="0"/>
            <a:ext cx="6290958" cy="10295039"/>
            <a:chOff x="0" y="0"/>
            <a:chExt cx="8387944" cy="13726719"/>
          </a:xfrm>
        </p:grpSpPr>
        <p:sp>
          <p:nvSpPr>
            <p:cNvPr name="Freeform 3" id="3" descr="_neon_gradient.png"/>
            <p:cNvSpPr/>
            <p:nvPr/>
          </p:nvSpPr>
          <p:spPr>
            <a:xfrm flipH="false" flipV="false" rot="0">
              <a:off x="0" y="0"/>
              <a:ext cx="838796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387969">
                  <a:moveTo>
                    <a:pt x="0" y="0"/>
                  </a:moveTo>
                  <a:lnTo>
                    <a:pt x="8387969" y="0"/>
                  </a:lnTo>
                  <a:lnTo>
                    <a:pt x="838796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5464" t="0" r="-954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1059" y="603980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5775" y="603980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3421" y="521618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21" y="686333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2853" y="555936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8510" y="1139314"/>
            <a:ext cx="8510568" cy="329441"/>
            <a:chOff x="0" y="0"/>
            <a:chExt cx="11347425" cy="439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47425" cy="439255"/>
            </a:xfrm>
            <a:custGeom>
              <a:avLst/>
              <a:gdLst/>
              <a:ahLst/>
              <a:cxnLst/>
              <a:rect r="r" b="b" t="t" l="l"/>
              <a:pathLst>
                <a:path h="439255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363" r="0" b="-45336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347425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5"/>
                </a:lnSpc>
              </a:pPr>
              <a:r>
                <a:rPr lang="en-US" sz="1245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10 / NEXT PHASE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78510" y="1619755"/>
            <a:ext cx="8510568" cy="13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Limits of the</a:t>
            </a:r>
          </a:p>
          <a:p>
            <a:pPr algn="l">
              <a:lnSpc>
                <a:spcPts val="4503"/>
              </a:lnSpc>
            </a:pPr>
            <a:r>
              <a:rPr lang="en-US" sz="3752">
                <a:solidFill>
                  <a:srgbClr val="F4F6FB"/>
                </a:solidFill>
                <a:latin typeface="Aptos"/>
                <a:ea typeface="Aptos"/>
                <a:cs typeface="Aptos"/>
                <a:sym typeface="Aptos"/>
              </a:rPr>
              <a:t>classical baseline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8510" y="3102235"/>
            <a:ext cx="8510568" cy="109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9CA9B7"/>
                </a:solidFill>
                <a:latin typeface="Aptos"/>
                <a:ea typeface="Aptos"/>
                <a:cs typeface="Aptos"/>
                <a:sym typeface="Aptos"/>
              </a:rPr>
              <a:t>Use the same engine-level split to compare Phase 2 fairly.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9686" y="4049382"/>
            <a:ext cx="521618" cy="343167"/>
            <a:chOff x="0" y="0"/>
            <a:chExt cx="695490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5487" cy="457557"/>
            </a:xfrm>
            <a:custGeom>
              <a:avLst/>
              <a:gdLst/>
              <a:ahLst/>
              <a:cxnLst/>
              <a:rect r="r" b="b" t="t" l="l"/>
              <a:pathLst>
                <a:path h="45755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409" t="0" r="-3441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954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4657" y="4008206"/>
            <a:ext cx="8716470" cy="686333"/>
            <a:chOff x="0" y="0"/>
            <a:chExt cx="11621960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21960" cy="915115"/>
            </a:xfrm>
            <a:custGeom>
              <a:avLst/>
              <a:gdLst/>
              <a:ahLst/>
              <a:cxnLst/>
              <a:rect r="r" b="b" t="t" l="l"/>
              <a:pathLst>
                <a:path h="915115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460" r="0" b="-1974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162196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3"/>
                </a:lnSpc>
              </a:pPr>
              <a:r>
                <a:rPr lang="en-US" sz="133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Fixed settings; no hyperparameter tuning. Window size chosen on the same engines used to compare models.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3600">
            <a:off x="1669894" y="4730953"/>
            <a:ext cx="9110358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919686" y="4927892"/>
            <a:ext cx="521618" cy="343167"/>
            <a:chOff x="0" y="0"/>
            <a:chExt cx="695490" cy="4575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5487" cy="457557"/>
            </a:xfrm>
            <a:custGeom>
              <a:avLst/>
              <a:gdLst/>
              <a:ahLst/>
              <a:cxnLst/>
              <a:rect r="r" b="b" t="t" l="l"/>
              <a:pathLst>
                <a:path h="45755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409" t="0" r="-3441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954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74657" y="4886716"/>
            <a:ext cx="8716470" cy="686333"/>
            <a:chOff x="0" y="0"/>
            <a:chExt cx="11621960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621960" cy="915115"/>
            </a:xfrm>
            <a:custGeom>
              <a:avLst/>
              <a:gdLst/>
              <a:ahLst/>
              <a:cxnLst/>
              <a:rect r="r" b="b" t="t" l="l"/>
              <a:pathLst>
                <a:path h="915115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460" r="0" b="-19745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162196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3"/>
                </a:lnSpc>
              </a:pPr>
              <a:r>
                <a:rPr lang="en-US" sz="133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Baseline length (10) and late-life threshold (50) were set by hand, not tested.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3600">
            <a:off x="1669894" y="5609463"/>
            <a:ext cx="9110358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19686" y="5806402"/>
            <a:ext cx="521618" cy="343167"/>
            <a:chOff x="0" y="0"/>
            <a:chExt cx="695490" cy="4575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5487" cy="457557"/>
            </a:xfrm>
            <a:custGeom>
              <a:avLst/>
              <a:gdLst/>
              <a:ahLst/>
              <a:cxnLst/>
              <a:rect r="r" b="b" t="t" l="l"/>
              <a:pathLst>
                <a:path h="45755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409" t="0" r="-3441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954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74657" y="5765225"/>
            <a:ext cx="8716470" cy="686333"/>
            <a:chOff x="0" y="0"/>
            <a:chExt cx="11621960" cy="915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621960" cy="915115"/>
            </a:xfrm>
            <a:custGeom>
              <a:avLst/>
              <a:gdLst/>
              <a:ahLst/>
              <a:cxnLst/>
              <a:rect r="r" b="b" t="t" l="l"/>
              <a:pathLst>
                <a:path h="915115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460" r="0" b="-1974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162196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3"/>
                </a:lnSpc>
              </a:pPr>
              <a:r>
                <a:rPr lang="en-US" sz="133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Two-point slope is simple; one test prediction per engine makes the test score noisy.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3600">
            <a:off x="1669894" y="6487982"/>
            <a:ext cx="9110358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919686" y="6684912"/>
            <a:ext cx="521618" cy="343167"/>
            <a:chOff x="0" y="0"/>
            <a:chExt cx="695490" cy="4575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5487" cy="457557"/>
            </a:xfrm>
            <a:custGeom>
              <a:avLst/>
              <a:gdLst/>
              <a:ahLst/>
              <a:cxnLst/>
              <a:rect r="r" b="b" t="t" l="l"/>
              <a:pathLst>
                <a:path h="45755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409" t="0" r="-3441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954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9DA5FF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74657" y="6643735"/>
            <a:ext cx="8716470" cy="686333"/>
            <a:chOff x="0" y="0"/>
            <a:chExt cx="11621960" cy="915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621960" cy="915115"/>
            </a:xfrm>
            <a:custGeom>
              <a:avLst/>
              <a:gdLst/>
              <a:ahLst/>
              <a:cxnLst/>
              <a:rect r="r" b="b" t="t" l="l"/>
              <a:pathLst>
                <a:path h="915115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460" r="0" b="-19745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62196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3"/>
                </a:lnSpc>
              </a:pPr>
              <a:r>
                <a:rPr lang="en-US" sz="133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Only FD001. FD002–FD004 test shifting operating conditions and additional fault modes.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3600">
            <a:off x="1669894" y="7366492"/>
            <a:ext cx="9110358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919686" y="7563421"/>
            <a:ext cx="521618" cy="343167"/>
            <a:chOff x="0" y="0"/>
            <a:chExt cx="695490" cy="4575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5487" cy="457557"/>
            </a:xfrm>
            <a:custGeom>
              <a:avLst/>
              <a:gdLst/>
              <a:ahLst/>
              <a:cxnLst/>
              <a:rect r="r" b="b" t="t" l="l"/>
              <a:pathLst>
                <a:path h="457557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409" t="0" r="-3441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954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29">
                  <a:solidFill>
                    <a:srgbClr val="F04ADB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74657" y="7522245"/>
            <a:ext cx="8716470" cy="686333"/>
            <a:chOff x="0" y="0"/>
            <a:chExt cx="11621960" cy="91511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621960" cy="915115"/>
            </a:xfrm>
            <a:custGeom>
              <a:avLst/>
              <a:gdLst/>
              <a:ahLst/>
              <a:cxnLst/>
              <a:rect r="r" b="b" t="t" l="l"/>
              <a:pathLst>
                <a:path h="915115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460" r="0" b="-19745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162196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3"/>
                </a:lnSpc>
              </a:pPr>
              <a:r>
                <a:rPr lang="en-US" sz="1336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Fixed rolling windows may miss longer degradation trends.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rot="3600">
            <a:off x="1669894" y="8245002"/>
            <a:ext cx="9110358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2491323" y="1070686"/>
            <a:ext cx="4804353" cy="274539"/>
            <a:chOff x="0" y="0"/>
            <a:chExt cx="6405804" cy="3660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05805" cy="366046"/>
            </a:xfrm>
            <a:custGeom>
              <a:avLst/>
              <a:gdLst/>
              <a:ahLst/>
              <a:cxnLst/>
              <a:rect r="r" b="b" t="t" l="l"/>
              <a:pathLst>
                <a:path h="366046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7" r="0" b="-29098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405804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PHASE 2 / THE NEXT STEP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91323" y="1592304"/>
            <a:ext cx="5010255" cy="1647206"/>
            <a:chOff x="0" y="0"/>
            <a:chExt cx="6680340" cy="219627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680339" cy="2196276"/>
            </a:xfrm>
            <a:custGeom>
              <a:avLst/>
              <a:gdLst/>
              <a:ahLst/>
              <a:cxnLst/>
              <a:rect r="r" b="b" t="t" l="l"/>
              <a:pathLst>
                <a:path h="2196276" w="6680339">
                  <a:moveTo>
                    <a:pt x="0" y="0"/>
                  </a:moveTo>
                  <a:lnTo>
                    <a:pt x="6680339" y="0"/>
                  </a:lnTo>
                  <a:lnTo>
                    <a:pt x="6680339" y="2196276"/>
                  </a:lnTo>
                  <a:lnTo>
                    <a:pt x="0" y="21962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67" r="0" b="-92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6680340" cy="2186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From engineered</a:t>
              </a:r>
            </a:p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features to raw</a:t>
              </a:r>
            </a:p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sensor windows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9300">
            <a:off x="12512088" y="3742630"/>
            <a:ext cx="4927530" cy="0"/>
          </a:xfrm>
          <a:prstGeom prst="line">
            <a:avLst/>
          </a:prstGeom>
          <a:ln cap="rnd" w="9525">
            <a:solidFill>
              <a:srgbClr val="6573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12484646" y="4358421"/>
            <a:ext cx="4625521" cy="1001668"/>
            <a:chOff x="0" y="0"/>
            <a:chExt cx="6167361" cy="13355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67374" cy="1335532"/>
            </a:xfrm>
            <a:custGeom>
              <a:avLst/>
              <a:gdLst/>
              <a:ahLst/>
              <a:cxnLst/>
              <a:rect r="r" b="b" t="t" l="l"/>
              <a:pathLst>
                <a:path h="1335532" w="6167374">
                  <a:moveTo>
                    <a:pt x="0" y="0"/>
                  </a:moveTo>
                  <a:lnTo>
                    <a:pt x="6167374" y="0"/>
                  </a:lnTo>
                  <a:lnTo>
                    <a:pt x="6167374" y="1335532"/>
                  </a:lnTo>
                  <a:lnTo>
                    <a:pt x="0" y="1335532"/>
                  </a:lnTo>
                  <a:close/>
                </a:path>
              </a:pathLst>
            </a:custGeom>
            <a:solidFill>
              <a:srgbClr val="182669"/>
            </a:solidFill>
            <a:ln w="13345" cap="sq">
              <a:solidFill>
                <a:srgbClr val="5C6C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765853" y="4625902"/>
            <a:ext cx="4049382" cy="384353"/>
            <a:chOff x="0" y="0"/>
            <a:chExt cx="5399176" cy="5124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99178" cy="512464"/>
            </a:xfrm>
            <a:custGeom>
              <a:avLst/>
              <a:gdLst/>
              <a:ahLst/>
              <a:cxnLst/>
              <a:rect r="r" b="b" t="t" l="l"/>
              <a:pathLst>
                <a:path h="512464" w="5399178">
                  <a:moveTo>
                    <a:pt x="0" y="0"/>
                  </a:moveTo>
                  <a:lnTo>
                    <a:pt x="5399178" y="0"/>
                  </a:lnTo>
                  <a:lnTo>
                    <a:pt x="539917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288" r="0" b="-15528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539917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01  Raw sensor windows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484646" y="5731097"/>
            <a:ext cx="4625521" cy="1001668"/>
            <a:chOff x="0" y="0"/>
            <a:chExt cx="6167361" cy="133555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167374" cy="1335532"/>
            </a:xfrm>
            <a:custGeom>
              <a:avLst/>
              <a:gdLst/>
              <a:ahLst/>
              <a:cxnLst/>
              <a:rect r="r" b="b" t="t" l="l"/>
              <a:pathLst>
                <a:path h="1335532" w="6167374">
                  <a:moveTo>
                    <a:pt x="0" y="0"/>
                  </a:moveTo>
                  <a:lnTo>
                    <a:pt x="6167374" y="0"/>
                  </a:lnTo>
                  <a:lnTo>
                    <a:pt x="6167374" y="1335532"/>
                  </a:lnTo>
                  <a:lnTo>
                    <a:pt x="0" y="1335532"/>
                  </a:lnTo>
                  <a:close/>
                </a:path>
              </a:pathLst>
            </a:custGeom>
            <a:solidFill>
              <a:srgbClr val="182669"/>
            </a:solidFill>
            <a:ln w="13345" cap="sq">
              <a:solidFill>
                <a:srgbClr val="5C6C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765853" y="5998578"/>
            <a:ext cx="4049382" cy="384353"/>
            <a:chOff x="0" y="0"/>
            <a:chExt cx="5399176" cy="5124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99178" cy="512464"/>
            </a:xfrm>
            <a:custGeom>
              <a:avLst/>
              <a:gdLst/>
              <a:ahLst/>
              <a:cxnLst/>
              <a:rect r="r" b="b" t="t" l="l"/>
              <a:pathLst>
                <a:path h="512464" w="5399178">
                  <a:moveTo>
                    <a:pt x="0" y="0"/>
                  </a:moveTo>
                  <a:lnTo>
                    <a:pt x="5399178" y="0"/>
                  </a:lnTo>
                  <a:lnTo>
                    <a:pt x="539917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288" r="0" b="-1552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39917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02  LSTM sequence model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84646" y="7103774"/>
            <a:ext cx="4625521" cy="1001668"/>
            <a:chOff x="0" y="0"/>
            <a:chExt cx="6167361" cy="133555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67374" cy="1335532"/>
            </a:xfrm>
            <a:custGeom>
              <a:avLst/>
              <a:gdLst/>
              <a:ahLst/>
              <a:cxnLst/>
              <a:rect r="r" b="b" t="t" l="l"/>
              <a:pathLst>
                <a:path h="1335532" w="6167374">
                  <a:moveTo>
                    <a:pt x="0" y="0"/>
                  </a:moveTo>
                  <a:lnTo>
                    <a:pt x="6167374" y="0"/>
                  </a:lnTo>
                  <a:lnTo>
                    <a:pt x="6167374" y="1335532"/>
                  </a:lnTo>
                  <a:lnTo>
                    <a:pt x="0" y="1335532"/>
                  </a:lnTo>
                  <a:close/>
                </a:path>
              </a:pathLst>
            </a:custGeom>
            <a:solidFill>
              <a:srgbClr val="182669"/>
            </a:solidFill>
            <a:ln w="13345" cap="sq">
              <a:solidFill>
                <a:srgbClr val="5C6CF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765853" y="7371255"/>
            <a:ext cx="4049382" cy="384353"/>
            <a:chOff x="0" y="0"/>
            <a:chExt cx="5399176" cy="5124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99178" cy="512464"/>
            </a:xfrm>
            <a:custGeom>
              <a:avLst/>
              <a:gdLst/>
              <a:ahLst/>
              <a:cxnLst/>
              <a:rect r="r" b="b" t="t" l="l"/>
              <a:pathLst>
                <a:path h="512464" w="5399178">
                  <a:moveTo>
                    <a:pt x="0" y="0"/>
                  </a:moveTo>
                  <a:lnTo>
                    <a:pt x="5399178" y="0"/>
                  </a:lnTo>
                  <a:lnTo>
                    <a:pt x="539917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288" r="0" b="-1552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539917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03  Same engine-level folds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91323" y="8441931"/>
            <a:ext cx="4804353" cy="411804"/>
            <a:chOff x="0" y="0"/>
            <a:chExt cx="6405804" cy="5490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05805" cy="549069"/>
            </a:xfrm>
            <a:custGeom>
              <a:avLst/>
              <a:gdLst/>
              <a:ahLst/>
              <a:cxnLst/>
              <a:rect r="r" b="b" t="t" l="l"/>
              <a:pathLst>
                <a:path h="549069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6405804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Direct comparison with Phase 1</a:t>
              </a:r>
            </a:p>
          </p:txBody>
        </p:sp>
      </p:grpSp>
      <p:sp>
        <p:nvSpPr>
          <p:cNvPr name="AutoShape 80" id="80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11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neon_radial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889" r="0" b="-3888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9686" y="686333"/>
            <a:ext cx="150990" cy="150990"/>
            <a:chOff x="0" y="0"/>
            <a:chExt cx="201320" cy="201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4412" y="686333"/>
            <a:ext cx="150990" cy="150990"/>
            <a:chOff x="0" y="0"/>
            <a:chExt cx="201320" cy="20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2049" y="603980"/>
            <a:ext cx="150990" cy="150990"/>
            <a:chOff x="0" y="0"/>
            <a:chExt cx="201320" cy="20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2049" y="768696"/>
            <a:ext cx="150990" cy="150990"/>
            <a:chOff x="0" y="0"/>
            <a:chExt cx="201320" cy="20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2" cy="201422"/>
            </a:xfrm>
            <a:custGeom>
              <a:avLst/>
              <a:gdLst/>
              <a:ahLst/>
              <a:cxnLst/>
              <a:rect r="r" b="b" t="t" l="l"/>
              <a:pathLst>
                <a:path h="201422" w="201422">
                  <a:moveTo>
                    <a:pt x="0" y="100711"/>
                  </a:moveTo>
                  <a:lnTo>
                    <a:pt x="100711" y="0"/>
                  </a:lnTo>
                  <a:lnTo>
                    <a:pt x="201422" y="100711"/>
                  </a:lnTo>
                  <a:lnTo>
                    <a:pt x="100711" y="201422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1490" y="638289"/>
            <a:ext cx="1441304" cy="343167"/>
            <a:chOff x="0" y="0"/>
            <a:chExt cx="1921739" cy="457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457557"/>
            </a:xfrm>
            <a:custGeom>
              <a:avLst/>
              <a:gdLst/>
              <a:ahLst/>
              <a:cxnLst/>
              <a:rect r="r" b="b" t="t" l="l"/>
              <a:pathLst>
                <a:path h="45755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37" r="0" b="-31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RUL LAB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16470" y="68637"/>
            <a:ext cx="8922372" cy="9128274"/>
            <a:chOff x="0" y="0"/>
            <a:chExt cx="11896496" cy="12171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96494" cy="12171028"/>
            </a:xfrm>
            <a:custGeom>
              <a:avLst/>
              <a:gdLst/>
              <a:ahLst/>
              <a:cxnLst/>
              <a:rect r="r" b="b" t="t" l="l"/>
              <a:pathLst>
                <a:path h="12171028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12171028"/>
                  </a:lnTo>
                  <a:lnTo>
                    <a:pt x="0" y="121710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264" t="0" r="-8126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1896496" cy="1218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6836"/>
                </a:lnSpc>
              </a:pPr>
              <a:r>
                <a:rPr lang="en-US" sz="39030">
                  <a:solidFill>
                    <a:srgbClr val="3341C1"/>
                  </a:solidFill>
                  <a:latin typeface="Aptos"/>
                  <a:ea typeface="Aptos"/>
                  <a:cs typeface="Aptos"/>
                  <a:sym typeface="Aptos"/>
                </a:rPr>
                <a:t>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5775" y="4914167"/>
            <a:ext cx="4667088" cy="329441"/>
            <a:chOff x="0" y="0"/>
            <a:chExt cx="6222784" cy="439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22781" cy="439255"/>
            </a:xfrm>
            <a:custGeom>
              <a:avLst/>
              <a:gdLst/>
              <a:ahLst/>
              <a:cxnLst/>
              <a:rect r="r" b="b" t="t" l="l"/>
              <a:pathLst>
                <a:path h="439255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222784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1"/>
                </a:lnSpc>
              </a:pPr>
              <a:r>
                <a:rPr lang="en-US" sz="1275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PHASE 1 COMPLETE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8324" y="5353421"/>
            <a:ext cx="7824235" cy="1070686"/>
            <a:chOff x="0" y="0"/>
            <a:chExt cx="10432313" cy="14275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32311" cy="1427579"/>
            </a:xfrm>
            <a:custGeom>
              <a:avLst/>
              <a:gdLst/>
              <a:ahLst/>
              <a:cxnLst/>
              <a:rect r="r" b="b" t="t" l="l"/>
              <a:pathLst>
                <a:path h="1427579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432313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5"/>
                </a:lnSpc>
              </a:pPr>
              <a:r>
                <a:rPr lang="en-US" sz="5404">
                  <a:solidFill>
                    <a:srgbClr val="F4F6FB"/>
                  </a:solidFill>
                  <a:latin typeface="Aptos"/>
                  <a:ea typeface="Aptos"/>
                  <a:cs typeface="Aptos"/>
                  <a:sym typeface="Aptos"/>
                </a:rPr>
                <a:t>Thank you.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500" y="6547647"/>
            <a:ext cx="6177029" cy="576520"/>
            <a:chOff x="0" y="0"/>
            <a:chExt cx="8236039" cy="7686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36034" cy="768697"/>
            </a:xfrm>
            <a:custGeom>
              <a:avLst/>
              <a:gdLst/>
              <a:ahLst/>
              <a:cxnLst/>
              <a:rect r="r" b="b" t="t" l="l"/>
              <a:pathLst>
                <a:path h="768697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236039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Questions?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86580">
            <a:off x="1006335" y="7430357"/>
            <a:ext cx="1817075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-1404540">
            <a:off x="10923632" y="7457808"/>
            <a:ext cx="870471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650940">
            <a:off x="11707778" y="7354862"/>
            <a:ext cx="743474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-2854200">
            <a:off x="12224728" y="7025421"/>
            <a:ext cx="1082259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822480">
            <a:off x="13075387" y="6723431"/>
            <a:ext cx="822236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-3278460">
            <a:off x="13561276" y="6277318"/>
            <a:ext cx="1332948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-2389440">
            <a:off x="14444796" y="5433117"/>
            <a:ext cx="1075849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835860">
            <a:off x="15340946" y="5179181"/>
            <a:ext cx="752313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-3861060">
            <a:off x="15515025" y="4437936"/>
            <a:ext cx="1845450" cy="0"/>
          </a:xfrm>
          <a:prstGeom prst="line">
            <a:avLst/>
          </a:prstGeom>
          <a:ln cap="rnd" w="19050">
            <a:solidFill>
              <a:srgbClr val="84D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0899019" y="7535970"/>
            <a:ext cx="164725" cy="164725"/>
            <a:chOff x="0" y="0"/>
            <a:chExt cx="219634" cy="2196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026657" y="6575098"/>
            <a:ext cx="164725" cy="164725"/>
            <a:chOff x="0" y="0"/>
            <a:chExt cx="219634" cy="2196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509147" y="5682863"/>
            <a:ext cx="164725" cy="164725"/>
            <a:chOff x="0" y="0"/>
            <a:chExt cx="219634" cy="21963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732872" y="3555225"/>
            <a:ext cx="164725" cy="164725"/>
            <a:chOff x="0" y="0"/>
            <a:chExt cx="219634" cy="2196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F04ADB"/>
            </a:solidFill>
          </p:spPr>
        </p:sp>
      </p:grpSp>
      <p:sp>
        <p:nvSpPr>
          <p:cNvPr name="AutoShape 44" id="44"/>
          <p:cNvSpPr/>
          <p:nvPr/>
        </p:nvSpPr>
        <p:spPr>
          <a:xfrm rot="2340">
            <a:off x="845334" y="9713757"/>
            <a:ext cx="16620782" cy="0"/>
          </a:xfrm>
          <a:prstGeom prst="line">
            <a:avLst/>
          </a:prstGeom>
          <a:ln cap="rnd" w="9525">
            <a:solidFill>
              <a:srgbClr val="2534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878510" y="9814608"/>
            <a:ext cx="4529823" cy="205902"/>
            <a:chOff x="0" y="0"/>
            <a:chExt cx="6039764" cy="2745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39758" cy="274534"/>
            </a:xfrm>
            <a:custGeom>
              <a:avLst/>
              <a:gdLst/>
              <a:ahLst/>
              <a:cxnLst/>
              <a:rect r="r" b="b" t="t" l="l"/>
              <a:pathLst>
                <a:path h="274534" w="6039758">
                  <a:moveTo>
                    <a:pt x="0" y="0"/>
                  </a:moveTo>
                  <a:lnTo>
                    <a:pt x="6039758" y="0"/>
                  </a:lnTo>
                  <a:lnTo>
                    <a:pt x="6039758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1" r="0" b="-3786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6039764" cy="265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7"/>
                </a:lnSpc>
              </a:pPr>
              <a:r>
                <a:rPr lang="en-US" sz="108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PHASE 1  /  C-MAPSS FD001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774058" y="9773431"/>
            <a:ext cx="617706" cy="274539"/>
            <a:chOff x="0" y="0"/>
            <a:chExt cx="823608" cy="3660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3603" cy="366046"/>
            </a:xfrm>
            <a:custGeom>
              <a:avLst/>
              <a:gdLst/>
              <a:ahLst/>
              <a:cxnLst/>
              <a:rect r="r" b="b" t="t" l="l"/>
              <a:pathLst>
                <a:path h="366046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4" t="0" r="-7025" b="-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823608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CDD5DF"/>
                  </a:solidFill>
                  <a:latin typeface="Aptos"/>
                  <a:ea typeface="Aptos"/>
                  <a:cs typeface="Aptos"/>
                  <a:sym typeface="Aptos"/>
                </a:rPr>
                <a:t>12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DAHY3IQM3FI</dc:identifier>
  <dcterms:modified xsi:type="dcterms:W3CDTF">2011-08-01T06:04:30Z</dcterms:modified>
  <cp:revision>1</cp:revision>
  <dc:title>RUL Prediction — Phase 1 (Neon Editorial Final)</dc:title>
</cp:coreProperties>
</file>